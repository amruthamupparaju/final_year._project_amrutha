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54" r:id="rId2"/>
    <p:sldMasterId id="2147483878" r:id="rId3"/>
    <p:sldMasterId id="2147483672" r:id="rId4"/>
  </p:sldMasterIdLst>
  <p:sldIdLst>
    <p:sldId id="256" r:id="rId5"/>
    <p:sldId id="257" r:id="rId6"/>
    <p:sldId id="258" r:id="rId7"/>
    <p:sldId id="259" r:id="rId8"/>
    <p:sldId id="260" r:id="rId9"/>
    <p:sldId id="267" r:id="rId10"/>
    <p:sldId id="268" r:id="rId11"/>
    <p:sldId id="269" r:id="rId12"/>
    <p:sldId id="270" r:id="rId13"/>
    <p:sldId id="261" r:id="rId14"/>
    <p:sldId id="262" r:id="rId15"/>
    <p:sldId id="272" r:id="rId16"/>
    <p:sldId id="273" r:id="rId17"/>
    <p:sldId id="274" r:id="rId18"/>
    <p:sldId id="276" r:id="rId19"/>
    <p:sldId id="279" r:id="rId20"/>
    <p:sldId id="263" r:id="rId21"/>
    <p:sldId id="278" r:id="rId22"/>
    <p:sldId id="264" r:id="rId23"/>
    <p:sldId id="265" r:id="rId24"/>
    <p:sldId id="277" r:id="rId25"/>
    <p:sldId id="266" r:id="rId2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90374B-EC33-8973-2CBB-182FBF3EEE35}" v="49" dt="2023-06-02T06:00:03.221"/>
    <p1510:client id="{19320AA3-4444-7FDA-5718-2FD07D2BEE39}" v="56" dt="2023-06-01T09:11:52.080"/>
    <p1510:client id="{2A290A22-C610-034D-5896-356B89CE911E}" v="238" dt="2023-06-01T09:11:39.841"/>
    <p1510:client id="{387A10C5-492D-42C5-82A4-4E5AE34A06E6}" v="29" dt="2023-05-29T13:52:27.937"/>
    <p1510:client id="{4200EF1D-AD28-ECA6-9FA3-0B6F611A702E}" v="167" dt="2023-06-02T15:27:48.337"/>
    <p1510:client id="{5FFD85A0-67C4-7EC4-852C-2B17FDEE2E2E}" v="105" dt="2023-06-02T06:00:31.977"/>
    <p1510:client id="{A812E9C3-CC89-ADC4-CFAA-3026D199D1F7}" v="32" dt="2023-06-01T08:33:14.380"/>
    <p1510:client id="{E0231F50-CDCF-6479-867E-86378DD043C5}" v="49" dt="2023-06-03T04:12:12.137"/>
    <p1510:client id="{E63E2378-E86A-82CE-CB13-05A79E6E11B5}" v="1" dt="2023-05-31T16:15:48.367"/>
    <p1510:client id="{FE718A1A-939A-5B2D-146D-C9EB798ADFD0}" v="9" dt="2023-06-01T16:56:39.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35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16/10/2026</a:t>
            </a:fld>
            <a:endParaRPr lang="en-GB"/>
          </a:p>
        </p:txBody>
      </p:sp>
      <p:sp>
        <p:nvSpPr>
          <p:cNvPr id="8" name="Footer Placeholder 7"/>
          <p:cNvSpPr>
            <a:spLocks noGrp="1"/>
          </p:cNvSpPr>
          <p:nvPr>
            <p:ph type="ftr" sz="quarter" idx="11"/>
          </p:nvPr>
        </p:nvSpPr>
        <p:spPr/>
        <p:txBody>
          <a:bodyPr/>
          <a:lstStyle/>
          <a:p>
            <a:r>
              <a:rPr lang="en-GB"/>
              <a:t>03-06-2023</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16/10/2026</a:t>
            </a:fld>
            <a:endParaRPr lang="en-GB"/>
          </a:p>
        </p:txBody>
      </p:sp>
      <p:sp>
        <p:nvSpPr>
          <p:cNvPr id="4" name="Footer Placeholder 3"/>
          <p:cNvSpPr>
            <a:spLocks noGrp="1"/>
          </p:cNvSpPr>
          <p:nvPr>
            <p:ph type="ftr" sz="quarter" idx="11"/>
          </p:nvPr>
        </p:nvSpPr>
        <p:spPr/>
        <p:txBody>
          <a:bodyPr/>
          <a:lstStyle/>
          <a:p>
            <a:r>
              <a:rPr lang="en-GB"/>
              <a:t>03-06-2023</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16/10/2026</a:t>
            </a:fld>
            <a:endParaRPr lang="en-GB"/>
          </a:p>
        </p:txBody>
      </p:sp>
      <p:sp>
        <p:nvSpPr>
          <p:cNvPr id="3" name="Footer Placeholder 2"/>
          <p:cNvSpPr>
            <a:spLocks noGrp="1"/>
          </p:cNvSpPr>
          <p:nvPr>
            <p:ph type="ftr" sz="quarter" idx="11"/>
          </p:nvPr>
        </p:nvSpPr>
        <p:spPr/>
        <p:txBody>
          <a:bodyPr/>
          <a:lstStyle/>
          <a:p>
            <a:r>
              <a:rPr lang="en-GB"/>
              <a:t>03-06-2023</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10/16/2026</a:t>
            </a:fld>
            <a:endParaRPr lang="en-US"/>
          </a:p>
        </p:txBody>
      </p:sp>
      <p:sp>
        <p:nvSpPr>
          <p:cNvPr id="5" name="Footer Placeholder 4"/>
          <p:cNvSpPr>
            <a:spLocks noGrp="1"/>
          </p:cNvSpPr>
          <p:nvPr>
            <p:ph type="ftr" sz="quarter" idx="11"/>
          </p:nvPr>
        </p:nvSpPr>
        <p:spPr/>
        <p:txBody>
          <a:bodyPr/>
          <a:lstStyle/>
          <a:p>
            <a:r>
              <a:rPr lang="en-US"/>
              <a:t>03-06-2023</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47376442"/>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10/16/2026</a:t>
            </a:fld>
            <a:endParaRPr lang="en-US"/>
          </a:p>
        </p:txBody>
      </p:sp>
      <p:sp>
        <p:nvSpPr>
          <p:cNvPr id="5" name="Footer Placeholder 4"/>
          <p:cNvSpPr>
            <a:spLocks noGrp="1"/>
          </p:cNvSpPr>
          <p:nvPr>
            <p:ph type="ftr" sz="quarter" idx="11"/>
          </p:nvPr>
        </p:nvSpPr>
        <p:spPr/>
        <p:txBody>
          <a:bodyPr/>
          <a:lstStyle/>
          <a:p>
            <a:r>
              <a:rPr lang="en-US"/>
              <a:t>03-06-2023</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85520785"/>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10/16/2026</a:t>
            </a:fld>
            <a:endParaRPr lang="en-US"/>
          </a:p>
        </p:txBody>
      </p:sp>
      <p:sp>
        <p:nvSpPr>
          <p:cNvPr id="5" name="Footer Placeholder 4"/>
          <p:cNvSpPr>
            <a:spLocks noGrp="1"/>
          </p:cNvSpPr>
          <p:nvPr>
            <p:ph type="ftr" sz="quarter" idx="11"/>
          </p:nvPr>
        </p:nvSpPr>
        <p:spPr/>
        <p:txBody>
          <a:bodyPr/>
          <a:lstStyle/>
          <a:p>
            <a:r>
              <a:rPr lang="en-US"/>
              <a:t>03-06-2023</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0096747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10/16/2026</a:t>
            </a:fld>
            <a:endParaRPr lang="en-US"/>
          </a:p>
        </p:txBody>
      </p:sp>
      <p:sp>
        <p:nvSpPr>
          <p:cNvPr id="6" name="Footer Placeholder 5"/>
          <p:cNvSpPr>
            <a:spLocks noGrp="1"/>
          </p:cNvSpPr>
          <p:nvPr>
            <p:ph type="ftr" sz="quarter" idx="11"/>
          </p:nvPr>
        </p:nvSpPr>
        <p:spPr/>
        <p:txBody>
          <a:bodyPr/>
          <a:lstStyle/>
          <a:p>
            <a:r>
              <a:rPr lang="en-US"/>
              <a:t>03-06-2023</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7354274"/>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10/16/2026</a:t>
            </a:fld>
            <a:endParaRPr lang="en-US"/>
          </a:p>
        </p:txBody>
      </p:sp>
      <p:sp>
        <p:nvSpPr>
          <p:cNvPr id="8" name="Footer Placeholder 7"/>
          <p:cNvSpPr>
            <a:spLocks noGrp="1"/>
          </p:cNvSpPr>
          <p:nvPr>
            <p:ph type="ftr" sz="quarter" idx="11"/>
          </p:nvPr>
        </p:nvSpPr>
        <p:spPr/>
        <p:txBody>
          <a:bodyPr/>
          <a:lstStyle/>
          <a:p>
            <a:r>
              <a:rPr lang="en-US"/>
              <a:t>03-06-2023</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7628637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10/16/2026</a:t>
            </a:fld>
            <a:endParaRPr lang="en-US"/>
          </a:p>
        </p:txBody>
      </p:sp>
      <p:sp>
        <p:nvSpPr>
          <p:cNvPr id="4" name="Footer Placeholder 3"/>
          <p:cNvSpPr>
            <a:spLocks noGrp="1"/>
          </p:cNvSpPr>
          <p:nvPr>
            <p:ph type="ftr" sz="quarter" idx="11"/>
          </p:nvPr>
        </p:nvSpPr>
        <p:spPr/>
        <p:txBody>
          <a:bodyPr/>
          <a:lstStyle/>
          <a:p>
            <a:r>
              <a:rPr lang="en-US"/>
              <a:t>03-06-2023</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38546788"/>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10/16/2026</a:t>
            </a:fld>
            <a:endParaRPr lang="en-US"/>
          </a:p>
        </p:txBody>
      </p:sp>
      <p:sp>
        <p:nvSpPr>
          <p:cNvPr id="3" name="Footer Placeholder 2"/>
          <p:cNvSpPr>
            <a:spLocks noGrp="1"/>
          </p:cNvSpPr>
          <p:nvPr>
            <p:ph type="ftr" sz="quarter" idx="11"/>
          </p:nvPr>
        </p:nvSpPr>
        <p:spPr/>
        <p:txBody>
          <a:bodyPr/>
          <a:lstStyle/>
          <a:p>
            <a:r>
              <a:rPr lang="en-US"/>
              <a:t>03-06-2023</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87325488"/>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10/16/2026</a:t>
            </a:fld>
            <a:endParaRPr lang="en-US"/>
          </a:p>
        </p:txBody>
      </p:sp>
      <p:sp>
        <p:nvSpPr>
          <p:cNvPr id="6" name="Footer Placeholder 5"/>
          <p:cNvSpPr>
            <a:spLocks noGrp="1"/>
          </p:cNvSpPr>
          <p:nvPr>
            <p:ph type="ftr" sz="quarter" idx="11"/>
          </p:nvPr>
        </p:nvSpPr>
        <p:spPr/>
        <p:txBody>
          <a:bodyPr/>
          <a:lstStyle/>
          <a:p>
            <a:r>
              <a:rPr lang="en-US"/>
              <a:t>03-06-2023</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7452008"/>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10/16/2026</a:t>
            </a:fld>
            <a:endParaRPr lang="en-US"/>
          </a:p>
        </p:txBody>
      </p:sp>
      <p:sp>
        <p:nvSpPr>
          <p:cNvPr id="6" name="Footer Placeholder 5"/>
          <p:cNvSpPr>
            <a:spLocks noGrp="1"/>
          </p:cNvSpPr>
          <p:nvPr>
            <p:ph type="ftr" sz="quarter" idx="11"/>
          </p:nvPr>
        </p:nvSpPr>
        <p:spPr/>
        <p:txBody>
          <a:bodyPr/>
          <a:lstStyle/>
          <a:p>
            <a:r>
              <a:rPr lang="en-US"/>
              <a:t>03-06-2023</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06163553"/>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10/16/2026</a:t>
            </a:fld>
            <a:endParaRPr lang="en-US"/>
          </a:p>
        </p:txBody>
      </p:sp>
      <p:sp>
        <p:nvSpPr>
          <p:cNvPr id="5" name="Footer Placeholder 4"/>
          <p:cNvSpPr>
            <a:spLocks noGrp="1"/>
          </p:cNvSpPr>
          <p:nvPr>
            <p:ph type="ftr" sz="quarter" idx="11"/>
          </p:nvPr>
        </p:nvSpPr>
        <p:spPr/>
        <p:txBody>
          <a:bodyPr/>
          <a:lstStyle/>
          <a:p>
            <a:r>
              <a:rPr lang="en-US"/>
              <a:t>03-06-2023</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71372589"/>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10/16/2026</a:t>
            </a:fld>
            <a:endParaRPr lang="en-US"/>
          </a:p>
        </p:txBody>
      </p:sp>
      <p:sp>
        <p:nvSpPr>
          <p:cNvPr id="5" name="Footer Placeholder 4"/>
          <p:cNvSpPr>
            <a:spLocks noGrp="1"/>
          </p:cNvSpPr>
          <p:nvPr>
            <p:ph type="ftr" sz="quarter" idx="11"/>
          </p:nvPr>
        </p:nvSpPr>
        <p:spPr/>
        <p:txBody>
          <a:bodyPr/>
          <a:lstStyle/>
          <a:p>
            <a:r>
              <a:rPr lang="en-US"/>
              <a:t>03-06-2023</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94434326"/>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7A277BD1-1EC2-4F72-B84B-096EACB95193}" type="datetime1">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311CEE73-BD0B-43AA-ACF4-EF2AE440AA66}" type="datetime1">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1D8594B-1361-4577-B151-B7446C499569}" type="datetime1">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C15294-1F9E-471C-8508-6B21FDDB59B7}" type="datetime1">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0FDA2903-FECD-4B44-A29F-80B4BFC8CF91}" type="datetime1">
              <a:rPr lang="en-GB" smtClean="0"/>
              <a:t>16/10/2026</a:t>
            </a:fld>
            <a:endParaRPr lang="en-GB"/>
          </a:p>
        </p:txBody>
      </p:sp>
      <p:sp>
        <p:nvSpPr>
          <p:cNvPr id="8" name="Footer Placeholder 7"/>
          <p:cNvSpPr>
            <a:spLocks noGrp="1"/>
          </p:cNvSpPr>
          <p:nvPr>
            <p:ph type="ftr" sz="quarter" idx="11"/>
          </p:nvPr>
        </p:nvSpPr>
        <p:spPr/>
        <p:txBody>
          <a:bodyPr/>
          <a:lstStyle/>
          <a:p>
            <a:r>
              <a:rPr lang="en-GB"/>
              <a:t>03-06-2023</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250E9025-1229-4A33-9F55-F5475266B5C5}" type="datetime1">
              <a:rPr lang="en-GB" smtClean="0"/>
              <a:t>16/10/2026</a:t>
            </a:fld>
            <a:endParaRPr lang="en-GB"/>
          </a:p>
        </p:txBody>
      </p:sp>
      <p:sp>
        <p:nvSpPr>
          <p:cNvPr id="4" name="Footer Placeholder 3"/>
          <p:cNvSpPr>
            <a:spLocks noGrp="1"/>
          </p:cNvSpPr>
          <p:nvPr>
            <p:ph type="ftr" sz="quarter" idx="11"/>
          </p:nvPr>
        </p:nvSpPr>
        <p:spPr/>
        <p:txBody>
          <a:bodyPr/>
          <a:lstStyle/>
          <a:p>
            <a:r>
              <a:rPr lang="en-GB"/>
              <a:t>03-06-2023</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87D775-7866-42A3-A7F4-938472720CB0}" type="datetime1">
              <a:rPr lang="en-GB" smtClean="0"/>
              <a:t>16/10/2026</a:t>
            </a:fld>
            <a:endParaRPr lang="en-GB"/>
          </a:p>
        </p:txBody>
      </p:sp>
      <p:sp>
        <p:nvSpPr>
          <p:cNvPr id="3" name="Footer Placeholder 2"/>
          <p:cNvSpPr>
            <a:spLocks noGrp="1"/>
          </p:cNvSpPr>
          <p:nvPr>
            <p:ph type="ftr" sz="quarter" idx="11"/>
          </p:nvPr>
        </p:nvSpPr>
        <p:spPr/>
        <p:txBody>
          <a:bodyPr/>
          <a:lstStyle/>
          <a:p>
            <a:r>
              <a:rPr lang="en-GB"/>
              <a:t>03-06-2023</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47418D8-D06C-40E2-9D98-A95111EFDAAC}" type="datetime1">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AA7B337-C1BE-46D3-AA6E-85B94EFE25E4}" type="datetime1">
              <a:rPr lang="en-GB" smtClean="0"/>
              <a:t>16/10/2026</a:t>
            </a:fld>
            <a:endParaRPr lang="en-GB"/>
          </a:p>
        </p:txBody>
      </p:sp>
      <p:sp>
        <p:nvSpPr>
          <p:cNvPr id="6" name="Footer Placeholder 5"/>
          <p:cNvSpPr>
            <a:spLocks noGrp="1"/>
          </p:cNvSpPr>
          <p:nvPr>
            <p:ph type="ftr" sz="quarter" idx="11"/>
          </p:nvPr>
        </p:nvSpPr>
        <p:spPr/>
        <p:txBody>
          <a:bodyPr/>
          <a:lstStyle/>
          <a:p>
            <a:r>
              <a:rPr lang="en-GB"/>
              <a:t>03-06-2023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ABB85C48-85AE-487A-B367-99D87EAF6C41}" type="datetime1">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D4599450-C2D3-49B1-8BB3-866DC5719856}" type="datetime1">
              <a:rPr lang="en-GB" smtClean="0"/>
              <a:t>16/10/2026</a:t>
            </a:fld>
            <a:endParaRPr lang="en-GB"/>
          </a:p>
        </p:txBody>
      </p:sp>
      <p:sp>
        <p:nvSpPr>
          <p:cNvPr id="5" name="Footer Placeholder 4"/>
          <p:cNvSpPr>
            <a:spLocks noGrp="1"/>
          </p:cNvSpPr>
          <p:nvPr>
            <p:ph type="ftr" sz="quarter" idx="11"/>
          </p:nvPr>
        </p:nvSpPr>
        <p:spPr/>
        <p:txBody>
          <a:bodyPr/>
          <a:lstStyle/>
          <a:p>
            <a:r>
              <a:rPr lang="en-GB"/>
              <a:t>03-06-2023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30 March 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30 March 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30 March 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30 March 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16/10/2026</a:t>
            </a:fld>
            <a:endParaRPr lang="en-GB"/>
          </a:p>
        </p:txBody>
      </p:sp>
      <p:sp>
        <p:nvSpPr>
          <p:cNvPr id="8" name="Footer Placeholder 7"/>
          <p:cNvSpPr>
            <a:spLocks noGrp="1"/>
          </p:cNvSpPr>
          <p:nvPr>
            <p:ph type="ftr" sz="quarter" idx="11"/>
          </p:nvPr>
        </p:nvSpPr>
        <p:spPr/>
        <p:txBody>
          <a:bodyPr/>
          <a:lstStyle/>
          <a:p>
            <a:r>
              <a:rPr lang="en-GB"/>
              <a:t>30 March 2023</a:t>
            </a:r>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16/10/2026</a:t>
            </a:fld>
            <a:endParaRPr lang="en-GB"/>
          </a:p>
        </p:txBody>
      </p:sp>
      <p:sp>
        <p:nvSpPr>
          <p:cNvPr id="4" name="Footer Placeholder 3"/>
          <p:cNvSpPr>
            <a:spLocks noGrp="1"/>
          </p:cNvSpPr>
          <p:nvPr>
            <p:ph type="ftr" sz="quarter" idx="11"/>
          </p:nvPr>
        </p:nvSpPr>
        <p:spPr/>
        <p:txBody>
          <a:bodyPr/>
          <a:lstStyle/>
          <a:p>
            <a:r>
              <a:rPr lang="en-GB"/>
              <a:t>30 March 2023</a:t>
            </a:r>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16/10/2026</a:t>
            </a:fld>
            <a:endParaRPr lang="en-GB"/>
          </a:p>
        </p:txBody>
      </p:sp>
      <p:sp>
        <p:nvSpPr>
          <p:cNvPr id="3" name="Footer Placeholder 2"/>
          <p:cNvSpPr>
            <a:spLocks noGrp="1"/>
          </p:cNvSpPr>
          <p:nvPr>
            <p:ph type="ftr" sz="quarter" idx="11"/>
          </p:nvPr>
        </p:nvSpPr>
        <p:spPr/>
        <p:txBody>
          <a:bodyPr/>
          <a:lstStyle/>
          <a:p>
            <a:r>
              <a:rPr lang="en-GB"/>
              <a:t>30 March 2023</a:t>
            </a:r>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30 March 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16/10/2026</a:t>
            </a:fld>
            <a:endParaRPr lang="en-GB"/>
          </a:p>
        </p:txBody>
      </p:sp>
      <p:sp>
        <p:nvSpPr>
          <p:cNvPr id="6" name="Footer Placeholder 5"/>
          <p:cNvSpPr>
            <a:spLocks noGrp="1"/>
          </p:cNvSpPr>
          <p:nvPr>
            <p:ph type="ftr" sz="quarter" idx="11"/>
          </p:nvPr>
        </p:nvSpPr>
        <p:spPr/>
        <p:txBody>
          <a:bodyPr/>
          <a:lstStyle/>
          <a:p>
            <a:r>
              <a:rPr lang="en-GB"/>
              <a:t>30 March 2023</a:t>
            </a:r>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30 March 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16/10/2026</a:t>
            </a:fld>
            <a:endParaRPr lang="en-GB"/>
          </a:p>
        </p:txBody>
      </p:sp>
      <p:sp>
        <p:nvSpPr>
          <p:cNvPr id="5" name="Footer Placeholder 4"/>
          <p:cNvSpPr>
            <a:spLocks noGrp="1"/>
          </p:cNvSpPr>
          <p:nvPr>
            <p:ph type="ftr" sz="quarter" idx="11"/>
          </p:nvPr>
        </p:nvSpPr>
        <p:spPr/>
        <p:txBody>
          <a:bodyPr/>
          <a:lstStyle/>
          <a:p>
            <a:r>
              <a:rPr lang="en-GB"/>
              <a:t>30 March 2023</a:t>
            </a:r>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16/10/2026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03-06-2023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10/16/2026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03-06-2023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489104524"/>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BD930F-D271-41B8-9495-E02303D77C81}" type="datetime1">
              <a:rPr lang="en-GB" smtClean="0"/>
              <a:t>16/10/2026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03-06-2023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16/10/2026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30 March 2023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4.xml"/><Relationship Id="rId5" Type="http://schemas.openxmlformats.org/officeDocument/2006/relationships/image" Target="../media/image10.jpe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93880"/>
            <a:ext cx="9072113" cy="1463971"/>
          </a:xfrm>
        </p:spPr>
        <p:txBody>
          <a:bodyPr>
            <a:normAutofit fontScale="90000"/>
          </a:bodyPr>
          <a:lstStyle/>
          <a:p>
            <a:r>
              <a:rPr lang="en-GB" sz="5400">
                <a:cs typeface="Calibri Light"/>
              </a:rPr>
              <a:t>Product development for quality monitoring of recycled wastewater </a:t>
            </a:r>
            <a:endParaRPr lang="en-US"/>
          </a:p>
        </p:txBody>
      </p:sp>
      <p:sp>
        <p:nvSpPr>
          <p:cNvPr id="3" name="Subtitle 2"/>
          <p:cNvSpPr>
            <a:spLocks noGrp="1"/>
          </p:cNvSpPr>
          <p:nvPr>
            <p:ph type="subTitle" idx="1"/>
          </p:nvPr>
        </p:nvSpPr>
        <p:spPr>
          <a:xfrm>
            <a:off x="1524000" y="2394340"/>
            <a:ext cx="9144000" cy="3352290"/>
          </a:xfrm>
        </p:spPr>
        <p:txBody>
          <a:bodyPr vert="horz" lIns="91440" tIns="45720" rIns="91440" bIns="45720" rtlCol="0" anchor="t">
            <a:normAutofit lnSpcReduction="10000"/>
          </a:bodyPr>
          <a:lstStyle/>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285750" indent="-228600" algn="l">
              <a:buFont typeface="Arial,Sans-Serif"/>
              <a:buChar char="•"/>
            </a:pPr>
            <a:endParaRPr lang="en-US" sz="2200" dirty="0">
              <a:latin typeface="Times New Roman"/>
              <a:cs typeface="Times New Roman"/>
            </a:endParaRPr>
          </a:p>
          <a:p>
            <a:pPr marL="57150" algn="r"/>
            <a:r>
              <a:rPr lang="en-US" sz="2200" dirty="0">
                <a:latin typeface="Times New Roman"/>
                <a:cs typeface="Times New Roman"/>
              </a:rPr>
              <a:t>Amrutha Mupparaju</a:t>
            </a:r>
          </a:p>
        </p:txBody>
      </p:sp>
      <p:sp>
        <p:nvSpPr>
          <p:cNvPr id="5" name="Slide Number Placeholder 4">
            <a:extLst>
              <a:ext uri="{FF2B5EF4-FFF2-40B4-BE49-F238E27FC236}">
                <a16:creationId xmlns:a16="http://schemas.microsoft.com/office/drawing/2014/main" id="{2A1EC65B-4A49-9E2D-9C59-1E3A8606DBD0}"/>
              </a:ext>
            </a:extLst>
          </p:cNvPr>
          <p:cNvSpPr>
            <a:spLocks noGrp="1"/>
          </p:cNvSpPr>
          <p:nvPr>
            <p:ph type="sldNum" sz="quarter" idx="12"/>
          </p:nvPr>
        </p:nvSpPr>
        <p:spPr/>
        <p:txBody>
          <a:bodyPr/>
          <a:lstStyle/>
          <a:p>
            <a:fld id="{330EA680-D336-4FF7-8B7A-9848BB0A1C32}" type="slidenum">
              <a:rPr lang="en-GB" smtClean="0"/>
              <a:t>1</a:t>
            </a:fld>
            <a:endParaRPr lang="en-GB"/>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FF6D5-7A38-75AE-C8AC-9A525381C38D}"/>
              </a:ext>
            </a:extLst>
          </p:cNvPr>
          <p:cNvSpPr>
            <a:spLocks noGrp="1"/>
          </p:cNvSpPr>
          <p:nvPr>
            <p:ph type="title"/>
          </p:nvPr>
        </p:nvSpPr>
        <p:spPr/>
        <p:txBody>
          <a:bodyPr/>
          <a:lstStyle/>
          <a:p>
            <a:r>
              <a:rPr lang="en-GB" sz="5400" b="1">
                <a:latin typeface="Times New Roman"/>
                <a:cs typeface="Times New Roman"/>
              </a:rPr>
              <a:t>Introduction</a:t>
            </a:r>
            <a:endParaRPr lang="en-US"/>
          </a:p>
        </p:txBody>
      </p:sp>
      <p:sp>
        <p:nvSpPr>
          <p:cNvPr id="3" name="Content Placeholder 2">
            <a:extLst>
              <a:ext uri="{FF2B5EF4-FFF2-40B4-BE49-F238E27FC236}">
                <a16:creationId xmlns:a16="http://schemas.microsoft.com/office/drawing/2014/main" id="{6B4349CF-BB0E-33D8-88CC-D20695C6CE20}"/>
              </a:ext>
            </a:extLst>
          </p:cNvPr>
          <p:cNvSpPr>
            <a:spLocks noGrp="1"/>
          </p:cNvSpPr>
          <p:nvPr>
            <p:ph idx="1"/>
          </p:nvPr>
        </p:nvSpPr>
        <p:spPr/>
        <p:txBody>
          <a:bodyPr vert="horz" lIns="91440" tIns="45720" rIns="91440" bIns="45720" rtlCol="0" anchor="t">
            <a:normAutofit/>
          </a:bodyPr>
          <a:lstStyle/>
          <a:p>
            <a:pPr algn="just"/>
            <a:r>
              <a:rPr lang="en-GB" sz="2200">
                <a:latin typeface="Times New Roman"/>
                <a:cs typeface="Times New Roman"/>
              </a:rPr>
              <a:t>The increasing demand for water and the limited supply of freshwater have made the effective management of wastewater critical</a:t>
            </a:r>
            <a:endParaRPr lang="en-US" sz="2200">
              <a:latin typeface="Times New Roman"/>
              <a:cs typeface="Times New Roman"/>
            </a:endParaRPr>
          </a:p>
          <a:p>
            <a:pPr algn="just"/>
            <a:r>
              <a:rPr lang="en-GB" sz="2200">
                <a:latin typeface="Times New Roman"/>
                <a:cs typeface="Times New Roman"/>
              </a:rPr>
              <a:t>The potential impact on the environment, the presence of pollutants in wastewater can pose a significant risk to public health</a:t>
            </a:r>
            <a:endParaRPr lang="en-US" sz="2200">
              <a:latin typeface="Times New Roman"/>
              <a:cs typeface="Times New Roman"/>
            </a:endParaRPr>
          </a:p>
          <a:p>
            <a:pPr algn="just"/>
            <a:r>
              <a:rPr lang="en-GB" sz="2200">
                <a:latin typeface="Times New Roman"/>
                <a:cs typeface="Times New Roman"/>
              </a:rPr>
              <a:t>Traditional methods of monitoring wastewater quality have been time-consuming, labour-intensive, and often do not provide real-time data</a:t>
            </a:r>
            <a:endParaRPr lang="en-GB">
              <a:cs typeface="Calibri" panose="020F0502020204030204"/>
            </a:endParaRPr>
          </a:p>
        </p:txBody>
      </p:sp>
      <p:sp>
        <p:nvSpPr>
          <p:cNvPr id="6" name="Slide Number Placeholder 5">
            <a:extLst>
              <a:ext uri="{FF2B5EF4-FFF2-40B4-BE49-F238E27FC236}">
                <a16:creationId xmlns:a16="http://schemas.microsoft.com/office/drawing/2014/main" id="{2F616525-17F8-37D0-ACAF-E9A87909CB0F}"/>
              </a:ext>
            </a:extLst>
          </p:cNvPr>
          <p:cNvSpPr>
            <a:spLocks noGrp="1"/>
          </p:cNvSpPr>
          <p:nvPr>
            <p:ph type="sldNum" sz="quarter" idx="12"/>
          </p:nvPr>
        </p:nvSpPr>
        <p:spPr/>
        <p:txBody>
          <a:bodyPr/>
          <a:lstStyle/>
          <a:p>
            <a:fld id="{330EA680-D336-4FF7-8B7A-9848BB0A1C32}" type="slidenum">
              <a:rPr lang="en-GB" smtClean="0"/>
              <a:t>2</a:t>
            </a:fld>
            <a:endParaRPr lang="en-GB"/>
          </a:p>
        </p:txBody>
      </p:sp>
      <p:sp>
        <p:nvSpPr>
          <p:cNvPr id="4" name="Footer Placeholder 3">
            <a:extLst>
              <a:ext uri="{FF2B5EF4-FFF2-40B4-BE49-F238E27FC236}">
                <a16:creationId xmlns:a16="http://schemas.microsoft.com/office/drawing/2014/main" id="{DE5E15A8-CE02-F6CD-0B63-B3A0D70CAF0A}"/>
              </a:ext>
            </a:extLst>
          </p:cNvPr>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790104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2962-FF1C-5AAB-CC13-D4A549B226BF}"/>
              </a:ext>
            </a:extLst>
          </p:cNvPr>
          <p:cNvSpPr>
            <a:spLocks noGrp="1"/>
          </p:cNvSpPr>
          <p:nvPr>
            <p:ph type="title"/>
          </p:nvPr>
        </p:nvSpPr>
        <p:spPr/>
        <p:txBody>
          <a:bodyPr/>
          <a:lstStyle/>
          <a:p>
            <a:r>
              <a:rPr lang="en-GB" sz="5400" b="1">
                <a:latin typeface="Times New Roman"/>
                <a:cs typeface="Times New Roman"/>
              </a:rPr>
              <a:t>Motivation</a:t>
            </a:r>
            <a:endParaRPr lang="en-US"/>
          </a:p>
        </p:txBody>
      </p:sp>
      <p:sp>
        <p:nvSpPr>
          <p:cNvPr id="3" name="Content Placeholder 2">
            <a:extLst>
              <a:ext uri="{FF2B5EF4-FFF2-40B4-BE49-F238E27FC236}">
                <a16:creationId xmlns:a16="http://schemas.microsoft.com/office/drawing/2014/main" id="{C57DD984-6CF4-A897-C84E-F0959E1BD81C}"/>
              </a:ext>
            </a:extLst>
          </p:cNvPr>
          <p:cNvSpPr>
            <a:spLocks noGrp="1"/>
          </p:cNvSpPr>
          <p:nvPr>
            <p:ph idx="1"/>
          </p:nvPr>
        </p:nvSpPr>
        <p:spPr/>
        <p:txBody>
          <a:bodyPr vert="horz" lIns="91440" tIns="45720" rIns="91440" bIns="45720" rtlCol="0" anchor="t">
            <a:normAutofit/>
          </a:bodyPr>
          <a:lstStyle/>
          <a:p>
            <a:pPr marL="342900" indent="-342900" algn="just"/>
            <a:r>
              <a:rPr lang="en-GB" sz="2000">
                <a:latin typeface="Times New Roman"/>
                <a:ea typeface="+mn-lt"/>
                <a:cs typeface="+mn-lt"/>
              </a:rPr>
              <a:t>The motivation behind the product development for quality monitoring of recycled wastewater stems from the increasing demand for sustainable water resources and the need to ensure the safety, reliability, and compliance of recycled wastewater. </a:t>
            </a:r>
            <a:endParaRPr lang="en-US" sz="2000">
              <a:latin typeface="Times New Roman"/>
              <a:ea typeface="+mn-lt"/>
              <a:cs typeface="Times New Roman"/>
            </a:endParaRPr>
          </a:p>
          <a:p>
            <a:pPr marL="342900" indent="-342900" algn="just"/>
            <a:r>
              <a:rPr lang="en-GB" sz="2000">
                <a:latin typeface="Times New Roman"/>
                <a:ea typeface="+mn-lt"/>
                <a:cs typeface="+mn-lt"/>
              </a:rPr>
              <a:t>By monitoring the quality of recycled wastewater, we can protect the environment, safeguard public health, meet regulatory requirements, optimize water management, and enhance the acceptance and perception of recycled water as a valuable resource</a:t>
            </a:r>
            <a:endParaRPr lang="en-US" sz="2000">
              <a:latin typeface="Times New Roman"/>
              <a:cs typeface="Times New Roman"/>
            </a:endParaRPr>
          </a:p>
        </p:txBody>
      </p:sp>
      <p:sp>
        <p:nvSpPr>
          <p:cNvPr id="6" name="Slide Number Placeholder 5">
            <a:extLst>
              <a:ext uri="{FF2B5EF4-FFF2-40B4-BE49-F238E27FC236}">
                <a16:creationId xmlns:a16="http://schemas.microsoft.com/office/drawing/2014/main" id="{A3B07450-41C3-BF52-D24C-F679656E46DA}"/>
              </a:ext>
            </a:extLst>
          </p:cNvPr>
          <p:cNvSpPr>
            <a:spLocks noGrp="1"/>
          </p:cNvSpPr>
          <p:nvPr>
            <p:ph type="sldNum" sz="quarter" idx="12"/>
          </p:nvPr>
        </p:nvSpPr>
        <p:spPr/>
        <p:txBody>
          <a:bodyPr/>
          <a:lstStyle/>
          <a:p>
            <a:fld id="{330EA680-D336-4FF7-8B7A-9848BB0A1C32}" type="slidenum">
              <a:rPr lang="en-GB" smtClean="0"/>
              <a:t>3</a:t>
            </a:fld>
            <a:endParaRPr lang="en-GB"/>
          </a:p>
        </p:txBody>
      </p:sp>
    </p:spTree>
    <p:extLst>
      <p:ext uri="{BB962C8B-B14F-4D97-AF65-F5344CB8AC3E}">
        <p14:creationId xmlns:p14="http://schemas.microsoft.com/office/powerpoint/2010/main" val="3393951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1ADE6-094E-53A3-4039-8967C0C3894E}"/>
              </a:ext>
            </a:extLst>
          </p:cNvPr>
          <p:cNvSpPr>
            <a:spLocks noGrp="1"/>
          </p:cNvSpPr>
          <p:nvPr>
            <p:ph type="title"/>
          </p:nvPr>
        </p:nvSpPr>
        <p:spPr/>
        <p:txBody>
          <a:bodyPr/>
          <a:lstStyle/>
          <a:p>
            <a:r>
              <a:rPr lang="en-GB" sz="5400" b="1">
                <a:latin typeface="Times New Roman"/>
                <a:cs typeface="Times New Roman"/>
              </a:rPr>
              <a:t>OBJECTIVE</a:t>
            </a:r>
            <a:endParaRPr lang="en-US"/>
          </a:p>
        </p:txBody>
      </p:sp>
      <p:sp>
        <p:nvSpPr>
          <p:cNvPr id="3" name="Content Placeholder 2">
            <a:extLst>
              <a:ext uri="{FF2B5EF4-FFF2-40B4-BE49-F238E27FC236}">
                <a16:creationId xmlns:a16="http://schemas.microsoft.com/office/drawing/2014/main" id="{7F14F7A8-A9BB-32AC-D542-B5C709708119}"/>
              </a:ext>
            </a:extLst>
          </p:cNvPr>
          <p:cNvSpPr>
            <a:spLocks noGrp="1"/>
          </p:cNvSpPr>
          <p:nvPr>
            <p:ph idx="1"/>
          </p:nvPr>
        </p:nvSpPr>
        <p:spPr/>
        <p:txBody>
          <a:bodyPr vert="horz" lIns="91440" tIns="45720" rIns="91440" bIns="45720" rtlCol="0" anchor="t">
            <a:normAutofit/>
          </a:bodyPr>
          <a:lstStyle/>
          <a:p>
            <a:pPr marL="285750" indent="-285750" algn="just"/>
            <a:r>
              <a:rPr lang="en-GB" sz="2200">
                <a:ea typeface="+mn-lt"/>
                <a:cs typeface="+mn-lt"/>
              </a:rPr>
              <a:t>The main objective of this project is to develop a system for quality monitoring of recycled wastewater using TDS, turbidity, and pH sensors, with the data displayed on an LCD screen</a:t>
            </a:r>
            <a:endParaRPr lang="en-US"/>
          </a:p>
        </p:txBody>
      </p:sp>
      <p:sp>
        <p:nvSpPr>
          <p:cNvPr id="6" name="Slide Number Placeholder 5">
            <a:extLst>
              <a:ext uri="{FF2B5EF4-FFF2-40B4-BE49-F238E27FC236}">
                <a16:creationId xmlns:a16="http://schemas.microsoft.com/office/drawing/2014/main" id="{07CA941B-7BCA-900E-7F00-64FCFB152615}"/>
              </a:ext>
            </a:extLst>
          </p:cNvPr>
          <p:cNvSpPr>
            <a:spLocks noGrp="1"/>
          </p:cNvSpPr>
          <p:nvPr>
            <p:ph type="sldNum" sz="quarter" idx="12"/>
          </p:nvPr>
        </p:nvSpPr>
        <p:spPr/>
        <p:txBody>
          <a:bodyPr/>
          <a:lstStyle/>
          <a:p>
            <a:fld id="{330EA680-D336-4FF7-8B7A-9848BB0A1C32}" type="slidenum">
              <a:rPr lang="en-GB" smtClean="0"/>
              <a:t>4</a:t>
            </a:fld>
            <a:endParaRPr lang="en-GB"/>
          </a:p>
        </p:txBody>
      </p:sp>
    </p:spTree>
    <p:extLst>
      <p:ext uri="{BB962C8B-B14F-4D97-AF65-F5344CB8AC3E}">
        <p14:creationId xmlns:p14="http://schemas.microsoft.com/office/powerpoint/2010/main" val="1179551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9B684-F640-378E-AD63-A48900C0BD53}"/>
              </a:ext>
            </a:extLst>
          </p:cNvPr>
          <p:cNvSpPr>
            <a:spLocks noGrp="1"/>
          </p:cNvSpPr>
          <p:nvPr>
            <p:ph type="title"/>
          </p:nvPr>
        </p:nvSpPr>
        <p:spPr/>
        <p:txBody>
          <a:bodyPr/>
          <a:lstStyle/>
          <a:p>
            <a:r>
              <a:rPr lang="en-GB" sz="5400" b="1">
                <a:latin typeface="Times New Roman"/>
                <a:cs typeface="Times New Roman"/>
              </a:rPr>
              <a:t>Sub-Objectives</a:t>
            </a:r>
            <a:endParaRPr lang="en-US"/>
          </a:p>
        </p:txBody>
      </p:sp>
      <p:sp>
        <p:nvSpPr>
          <p:cNvPr id="3" name="Content Placeholder 2">
            <a:extLst>
              <a:ext uri="{FF2B5EF4-FFF2-40B4-BE49-F238E27FC236}">
                <a16:creationId xmlns:a16="http://schemas.microsoft.com/office/drawing/2014/main" id="{9A60FE59-0D5F-28F9-D48B-960F49DB5F44}"/>
              </a:ext>
            </a:extLst>
          </p:cNvPr>
          <p:cNvSpPr>
            <a:spLocks noGrp="1"/>
          </p:cNvSpPr>
          <p:nvPr>
            <p:ph idx="1"/>
          </p:nvPr>
        </p:nvSpPr>
        <p:spPr/>
        <p:txBody>
          <a:bodyPr vert="horz" lIns="91440" tIns="45720" rIns="91440" bIns="45720" rtlCol="0" anchor="t">
            <a:normAutofit/>
          </a:bodyPr>
          <a:lstStyle/>
          <a:p>
            <a:pPr algn="just"/>
            <a:r>
              <a:rPr lang="en-GB" sz="2200">
                <a:ea typeface="+mn-lt"/>
                <a:cs typeface="+mn-lt"/>
              </a:rPr>
              <a:t>Design and construct a robust and reliable monitoring system that can accurately measure the TDS, turbidity, and pH levels in recycled wastewater.</a:t>
            </a:r>
            <a:endParaRPr lang="en-US"/>
          </a:p>
          <a:p>
            <a:pPr algn="just"/>
            <a:r>
              <a:rPr lang="en-GB" sz="2200">
                <a:ea typeface="+mn-lt"/>
                <a:cs typeface="+mn-lt"/>
              </a:rPr>
              <a:t>Develop a user-friendly interface on the LCD display to provide real-time readings of the water quality parameters.</a:t>
            </a:r>
            <a:endParaRPr lang="en-GB">
              <a:ea typeface="+mn-lt"/>
              <a:cs typeface="+mn-lt"/>
            </a:endParaRPr>
          </a:p>
          <a:p>
            <a:pPr algn="just"/>
            <a:r>
              <a:rPr lang="en-GB" sz="2200">
                <a:ea typeface="+mn-lt"/>
                <a:cs typeface="+mn-lt"/>
              </a:rPr>
              <a:t>Implement calibration techniques to ensure accurate and precise measurements by the sensors.</a:t>
            </a:r>
            <a:endParaRPr lang="en-GB">
              <a:ea typeface="+mn-lt"/>
              <a:cs typeface="+mn-lt"/>
            </a:endParaRPr>
          </a:p>
          <a:p>
            <a:pPr marL="342900" indent="-342900"/>
            <a:endParaRPr lang="en-GB" sz="2200">
              <a:latin typeface="Times New Roman"/>
              <a:cs typeface="Times New Roman"/>
            </a:endParaRPr>
          </a:p>
        </p:txBody>
      </p:sp>
      <p:sp>
        <p:nvSpPr>
          <p:cNvPr id="6" name="Slide Number Placeholder 5">
            <a:extLst>
              <a:ext uri="{FF2B5EF4-FFF2-40B4-BE49-F238E27FC236}">
                <a16:creationId xmlns:a16="http://schemas.microsoft.com/office/drawing/2014/main" id="{451B017C-68FC-AD3F-9A39-6D984D012C84}"/>
              </a:ext>
            </a:extLst>
          </p:cNvPr>
          <p:cNvSpPr>
            <a:spLocks noGrp="1"/>
          </p:cNvSpPr>
          <p:nvPr>
            <p:ph type="sldNum" sz="quarter" idx="12"/>
          </p:nvPr>
        </p:nvSpPr>
        <p:spPr/>
        <p:txBody>
          <a:bodyPr/>
          <a:lstStyle/>
          <a:p>
            <a:fld id="{330EA680-D336-4FF7-8B7A-9848BB0A1C32}" type="slidenum">
              <a:rPr lang="en-GB" smtClean="0"/>
              <a:t>5</a:t>
            </a:fld>
            <a:endParaRPr lang="en-GB"/>
          </a:p>
        </p:txBody>
      </p:sp>
    </p:spTree>
    <p:extLst>
      <p:ext uri="{BB962C8B-B14F-4D97-AF65-F5344CB8AC3E}">
        <p14:creationId xmlns:p14="http://schemas.microsoft.com/office/powerpoint/2010/main" val="3884979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C23F-8267-DC78-877E-B5156FA44277}"/>
              </a:ext>
            </a:extLst>
          </p:cNvPr>
          <p:cNvSpPr>
            <a:spLocks noGrp="1"/>
          </p:cNvSpPr>
          <p:nvPr>
            <p:ph type="title"/>
          </p:nvPr>
        </p:nvSpPr>
        <p:spPr>
          <a:xfrm>
            <a:off x="-144713" y="-4050"/>
            <a:ext cx="6894657" cy="1016794"/>
          </a:xfrm>
        </p:spPr>
        <p:txBody>
          <a:bodyPr>
            <a:normAutofit/>
          </a:bodyPr>
          <a:lstStyle/>
          <a:p>
            <a:pPr algn="ctr"/>
            <a:r>
              <a:rPr lang="en-US" b="1">
                <a:solidFill>
                  <a:schemeClr val="accent1">
                    <a:lumMod val="50000"/>
                  </a:schemeClr>
                </a:solidFill>
                <a:latin typeface="Times New Roman"/>
                <a:cs typeface="Calibri Light"/>
              </a:rPr>
              <a:t>LITERATURE SURVEY</a:t>
            </a:r>
            <a:endParaRPr lang="en-US" b="1">
              <a:solidFill>
                <a:schemeClr val="accent1">
                  <a:lumMod val="50000"/>
                </a:schemeClr>
              </a:solidFill>
              <a:latin typeface="Times New Roman"/>
            </a:endParaRPr>
          </a:p>
        </p:txBody>
      </p:sp>
      <p:graphicFrame>
        <p:nvGraphicFramePr>
          <p:cNvPr id="5" name="Table 4">
            <a:extLst>
              <a:ext uri="{FF2B5EF4-FFF2-40B4-BE49-F238E27FC236}">
                <a16:creationId xmlns:a16="http://schemas.microsoft.com/office/drawing/2014/main" id="{BE02B2A1-E8A8-103E-D973-E3A10B011D4F}"/>
              </a:ext>
            </a:extLst>
          </p:cNvPr>
          <p:cNvGraphicFramePr>
            <a:graphicFrameLocks noGrp="1"/>
          </p:cNvGraphicFramePr>
          <p:nvPr>
            <p:extLst>
              <p:ext uri="{D42A27DB-BD31-4B8C-83A1-F6EECF244321}">
                <p14:modId xmlns:p14="http://schemas.microsoft.com/office/powerpoint/2010/main" val="671460775"/>
              </p:ext>
            </p:extLst>
          </p:nvPr>
        </p:nvGraphicFramePr>
        <p:xfrm>
          <a:off x="251092" y="1012920"/>
          <a:ext cx="11788479" cy="4785450"/>
        </p:xfrm>
        <a:graphic>
          <a:graphicData uri="http://schemas.openxmlformats.org/drawingml/2006/table">
            <a:tbl>
              <a:tblPr firstRow="1" bandRow="1">
                <a:tableStyleId>{5C22544A-7EE6-4342-B048-85BDC9FD1C3A}</a:tableStyleId>
              </a:tblPr>
              <a:tblGrid>
                <a:gridCol w="771525">
                  <a:extLst>
                    <a:ext uri="{9D8B030D-6E8A-4147-A177-3AD203B41FA5}">
                      <a16:colId xmlns:a16="http://schemas.microsoft.com/office/drawing/2014/main" val="3654882452"/>
                    </a:ext>
                  </a:extLst>
                </a:gridCol>
                <a:gridCol w="2295179">
                  <a:extLst>
                    <a:ext uri="{9D8B030D-6E8A-4147-A177-3AD203B41FA5}">
                      <a16:colId xmlns:a16="http://schemas.microsoft.com/office/drawing/2014/main" val="2767008331"/>
                    </a:ext>
                  </a:extLst>
                </a:gridCol>
                <a:gridCol w="1744337">
                  <a:extLst>
                    <a:ext uri="{9D8B030D-6E8A-4147-A177-3AD203B41FA5}">
                      <a16:colId xmlns:a16="http://schemas.microsoft.com/office/drawing/2014/main" val="4260292283"/>
                    </a:ext>
                  </a:extLst>
                </a:gridCol>
                <a:gridCol w="2214835">
                  <a:extLst>
                    <a:ext uri="{9D8B030D-6E8A-4147-A177-3AD203B41FA5}">
                      <a16:colId xmlns:a16="http://schemas.microsoft.com/office/drawing/2014/main" val="1183016435"/>
                    </a:ext>
                  </a:extLst>
                </a:gridCol>
                <a:gridCol w="2868971">
                  <a:extLst>
                    <a:ext uri="{9D8B030D-6E8A-4147-A177-3AD203B41FA5}">
                      <a16:colId xmlns:a16="http://schemas.microsoft.com/office/drawing/2014/main" val="3933706915"/>
                    </a:ext>
                  </a:extLst>
                </a:gridCol>
                <a:gridCol w="1893632">
                  <a:extLst>
                    <a:ext uri="{9D8B030D-6E8A-4147-A177-3AD203B41FA5}">
                      <a16:colId xmlns:a16="http://schemas.microsoft.com/office/drawing/2014/main" val="338153471"/>
                    </a:ext>
                  </a:extLst>
                </a:gridCol>
              </a:tblGrid>
              <a:tr h="619698">
                <a:tc>
                  <a:txBody>
                    <a:bodyPr/>
                    <a:lstStyle/>
                    <a:p>
                      <a:pPr algn="ctr" fontAlgn="base"/>
                      <a:r>
                        <a:rPr lang="en-US" sz="1400">
                          <a:effectLst/>
                          <a:latin typeface="Times New Roman"/>
                        </a:rPr>
                        <a:t>S.NO​</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AUTHORS NAME(S)​</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YEAR OF PUBLICATION​</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FULL TITLE OF PAPER ​</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INFERENCE​</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OPEN PROBLEMS​</a:t>
                      </a:r>
                      <a:endParaRPr lang="en-US" sz="1400" b="1">
                        <a:solidFill>
                          <a:srgbClr val="FFFFFF"/>
                        </a:solidFill>
                        <a:effectLst/>
                        <a:latin typeface="Times New Roman"/>
                      </a:endParaRPr>
                    </a:p>
                  </a:txBody>
                  <a:tcPr/>
                </a:tc>
                <a:extLst>
                  <a:ext uri="{0D108BD9-81ED-4DB2-BD59-A6C34878D82A}">
                    <a16:rowId xmlns:a16="http://schemas.microsoft.com/office/drawing/2014/main" val="2523295999"/>
                  </a:ext>
                </a:extLst>
              </a:tr>
              <a:tr h="2111566">
                <a:tc>
                  <a:txBody>
                    <a:bodyPr/>
                    <a:lstStyle/>
                    <a:p>
                      <a:pPr algn="ctr" fontAlgn="base"/>
                      <a:r>
                        <a:rPr lang="en-US" sz="1400">
                          <a:effectLst/>
                          <a:latin typeface="Times New Roman"/>
                        </a:rPr>
                        <a:t>1.​</a:t>
                      </a:r>
                    </a:p>
                  </a:txBody>
                  <a:tcPr/>
                </a:tc>
                <a:tc>
                  <a:txBody>
                    <a:bodyPr/>
                    <a:lstStyle/>
                    <a:p>
                      <a:pPr lvl="0">
                        <a:buNone/>
                      </a:pPr>
                      <a:r>
                        <a:rPr lang="en-US" sz="1400" b="0" i="0" u="none" strike="noStrike" noProof="0">
                          <a:effectLst/>
                          <a:latin typeface="Calibri"/>
                        </a:rPr>
                        <a:t>M. Kumar, T. Singh, M. K. Maurya, A. </a:t>
                      </a:r>
                      <a:r>
                        <a:rPr lang="en-US" sz="1400" b="0" i="0" u="none" strike="noStrike" noProof="0" err="1">
                          <a:effectLst/>
                          <a:latin typeface="Calibri"/>
                        </a:rPr>
                        <a:t>Shivhare</a:t>
                      </a:r>
                      <a:r>
                        <a:rPr lang="en-US" sz="1400" b="0" i="0" u="none" strike="noStrike" noProof="0">
                          <a:effectLst/>
                          <a:latin typeface="Calibri"/>
                        </a:rPr>
                        <a:t>, A. Raut and P. K. Singh</a:t>
                      </a:r>
                      <a:endParaRPr lang="en-US">
                        <a:hlinkClick r:id="" action="ppaction://noaction">
                          <a:extLst>
                            <a:ext uri="{A12FA001-AC4F-418D-AE19-62706E023703}">
                              <ahyp:hlinkClr xmlns:ahyp="http://schemas.microsoft.com/office/drawing/2018/hyperlinkcolor" val="tx"/>
                            </a:ext>
                          </a:extLst>
                        </a:hlinkClick>
                      </a:endParaRPr>
                    </a:p>
                    <a:p>
                      <a:pPr fontAlgn="base"/>
                      <a:r>
                        <a:rPr lang="en-US" sz="1400" u="none">
                          <a:solidFill>
                            <a:schemeClr val="tx1">
                              <a:lumMod val="95000"/>
                              <a:lumOff val="5000"/>
                            </a:schemeClr>
                          </a:solidFill>
                          <a:effectLst/>
                          <a:latin typeface="Times New Roman"/>
                        </a:rPr>
                        <a:t>​</a:t>
                      </a:r>
                    </a:p>
                  </a:txBody>
                  <a:tcPr/>
                </a:tc>
                <a:tc>
                  <a:txBody>
                    <a:bodyPr/>
                    <a:lstStyle/>
                    <a:p>
                      <a:pPr lvl="0" algn="ctr">
                        <a:buNone/>
                      </a:pPr>
                      <a:r>
                        <a:rPr lang="en-US" sz="1400" b="0" i="0" u="none" strike="noStrike" noProof="0">
                          <a:effectLst/>
                        </a:rPr>
                        <a:t>2023</a:t>
                      </a:r>
                      <a:endParaRPr lang="en-US"/>
                    </a:p>
                  </a:txBody>
                  <a:tcPr/>
                </a:tc>
                <a:tc>
                  <a:txBody>
                    <a:bodyPr/>
                    <a:lstStyle/>
                    <a:p>
                      <a:pPr lvl="0" algn="l">
                        <a:lnSpc>
                          <a:spcPct val="100000"/>
                        </a:lnSpc>
                        <a:spcBef>
                          <a:spcPts val="0"/>
                        </a:spcBef>
                        <a:spcAft>
                          <a:spcPts val="0"/>
                        </a:spcAft>
                        <a:buNone/>
                      </a:pPr>
                      <a:r>
                        <a:rPr lang="en-GB" sz="1400" b="0" i="0" u="none" strike="noStrike" noProof="0"/>
                        <a:t>"Quality Assessment and Monitoring of River Water Using IoT Infrastructure,"</a:t>
                      </a:r>
                      <a:r>
                        <a:rPr lang="en-GB" sz="1400" b="0" i="1" u="none" strike="noStrike" noProof="0"/>
                        <a:t> ( IEEE Internet of Things Journal)</a:t>
                      </a:r>
                      <a:endParaRPr lang="en-US" i="1"/>
                    </a:p>
                  </a:txBody>
                  <a:tcPr/>
                </a:tc>
                <a:tc>
                  <a:txBody>
                    <a:bodyPr/>
                    <a:lstStyle/>
                    <a:p>
                      <a:pPr lvl="0" algn="l">
                        <a:buNone/>
                      </a:pPr>
                      <a:r>
                        <a:rPr lang="en-US" sz="1400" b="0" i="0" u="none" strike="noStrike" noProof="0">
                          <a:effectLst/>
                          <a:latin typeface="Calibri"/>
                        </a:rPr>
                        <a:t>pH sensors can be used to measure the acidity or basicity of the water</a:t>
                      </a:r>
                    </a:p>
                    <a:p>
                      <a:pPr lvl="0" algn="l">
                        <a:buNone/>
                      </a:pPr>
                      <a:r>
                        <a:rPr lang="en-US" sz="1400" b="0" i="0" u="none" strike="noStrike" noProof="0">
                          <a:effectLst/>
                        </a:rPr>
                        <a:t>pH sensors can be connected to a cloud-based platform that provides real-time data on pH levels. The platform can also be programmed to trigger alarms or alerts if pH levels fall outside of the desired range</a:t>
                      </a:r>
                      <a:endParaRPr lang="en-US"/>
                    </a:p>
                  </a:txBody>
                  <a:tcPr/>
                </a:tc>
                <a:tc>
                  <a:txBody>
                    <a:bodyPr/>
                    <a:lstStyle/>
                    <a:p>
                      <a:pPr lvl="0" algn="l">
                        <a:lnSpc>
                          <a:spcPct val="100000"/>
                        </a:lnSpc>
                        <a:spcBef>
                          <a:spcPts val="0"/>
                        </a:spcBef>
                        <a:spcAft>
                          <a:spcPts val="0"/>
                        </a:spcAft>
                        <a:buNone/>
                      </a:pPr>
                      <a:r>
                        <a:rPr lang="en-US" sz="1400" b="0" i="0" u="none" strike="noStrike" noProof="0">
                          <a:effectLst/>
                        </a:rPr>
                        <a:t>An IoT-based system is limited by its coverage area, and it may not be feasible to install sensors and devices in all rivers and water bodies</a:t>
                      </a:r>
                      <a:endParaRPr lang="en-US"/>
                    </a:p>
                    <a:p>
                      <a:pPr lvl="0" algn="l">
                        <a:buNone/>
                      </a:pPr>
                      <a:endParaRPr lang="en-US" sz="1400">
                        <a:effectLst/>
                        <a:latin typeface="Times New Roman"/>
                      </a:endParaRPr>
                    </a:p>
                  </a:txBody>
                  <a:tcPr/>
                </a:tc>
                <a:extLst>
                  <a:ext uri="{0D108BD9-81ED-4DB2-BD59-A6C34878D82A}">
                    <a16:rowId xmlns:a16="http://schemas.microsoft.com/office/drawing/2014/main" val="2937166490"/>
                  </a:ext>
                </a:extLst>
              </a:tr>
              <a:tr h="2054186">
                <a:tc>
                  <a:txBody>
                    <a:bodyPr/>
                    <a:lstStyle/>
                    <a:p>
                      <a:pPr lvl="0" algn="ctr">
                        <a:buNone/>
                      </a:pPr>
                      <a:r>
                        <a:rPr lang="en-US" sz="1400">
                          <a:effectLst/>
                          <a:latin typeface="Times New Roman"/>
                        </a:rPr>
                        <a:t>2.</a:t>
                      </a:r>
                    </a:p>
                  </a:txBody>
                  <a:tcPr/>
                </a:tc>
                <a:tc>
                  <a:txBody>
                    <a:bodyPr/>
                    <a:lstStyle/>
                    <a:p>
                      <a:pPr lvl="0" algn="l">
                        <a:lnSpc>
                          <a:spcPct val="100000"/>
                        </a:lnSpc>
                        <a:spcBef>
                          <a:spcPts val="0"/>
                        </a:spcBef>
                        <a:spcAft>
                          <a:spcPts val="0"/>
                        </a:spcAft>
                        <a:buNone/>
                      </a:pPr>
                      <a:r>
                        <a:rPr lang="en-US" sz="1400" b="0" i="0" u="none" strike="noStrike" noProof="0">
                          <a:effectLst/>
                          <a:latin typeface="Calibri"/>
                        </a:rPr>
                        <a:t>Qi Song and Feng Luan and Zhan Shi and </a:t>
                      </a:r>
                      <a:r>
                        <a:rPr lang="en-US" sz="1400" b="0" i="0" u="none" strike="noStrike" noProof="0" err="1">
                          <a:effectLst/>
                          <a:latin typeface="Calibri"/>
                        </a:rPr>
                        <a:t>Taoren</a:t>
                      </a:r>
                      <a:r>
                        <a:rPr lang="en-US" sz="1400" b="0" i="0" u="none" strike="noStrike" noProof="0">
                          <a:effectLst/>
                          <a:latin typeface="Calibri"/>
                        </a:rPr>
                        <a:t> Li and Mingquan Wang</a:t>
                      </a:r>
                      <a:endParaRPr lang="en-US"/>
                    </a:p>
                  </a:txBody>
                  <a:tcPr/>
                </a:tc>
                <a:tc>
                  <a:txBody>
                    <a:bodyPr/>
                    <a:lstStyle/>
                    <a:p>
                      <a:pPr lvl="0" algn="ctr">
                        <a:lnSpc>
                          <a:spcPct val="100000"/>
                        </a:lnSpc>
                        <a:spcBef>
                          <a:spcPts val="0"/>
                        </a:spcBef>
                        <a:spcAft>
                          <a:spcPts val="0"/>
                        </a:spcAft>
                        <a:buNone/>
                      </a:pPr>
                      <a:r>
                        <a:rPr lang="en-US" sz="1400" b="0" i="0" u="none" strike="noStrike" noProof="0">
                          <a:effectLst/>
                          <a:latin typeface="Times New Roman"/>
                        </a:rPr>
                        <a:t>2020</a:t>
                      </a:r>
                      <a:endParaRPr lang="en-US">
                        <a:latin typeface="Times New Roman"/>
                      </a:endParaRPr>
                    </a:p>
                    <a:p>
                      <a:pPr lvl="0" algn="ctr">
                        <a:buNone/>
                      </a:pPr>
                      <a:endParaRPr lang="en-US" sz="1400">
                        <a:effectLst/>
                        <a:latin typeface="Times New Roman"/>
                      </a:endParaRPr>
                    </a:p>
                  </a:txBody>
                  <a:tcPr/>
                </a:tc>
                <a:tc>
                  <a:txBody>
                    <a:bodyPr/>
                    <a:lstStyle/>
                    <a:p>
                      <a:pPr lvl="0" algn="l">
                        <a:lnSpc>
                          <a:spcPct val="100000"/>
                        </a:lnSpc>
                        <a:spcBef>
                          <a:spcPts val="0"/>
                        </a:spcBef>
                        <a:spcAft>
                          <a:spcPts val="0"/>
                        </a:spcAft>
                        <a:buNone/>
                      </a:pPr>
                      <a:r>
                        <a:rPr lang="en-US" sz="1400" b="0" i="0" u="none" strike="noStrike" noProof="0">
                          <a:effectLst/>
                          <a:latin typeface="Calibri"/>
                        </a:rPr>
                        <a:t>"Design of Turbidity Remote Monitoring System Based on FX-11A Optical Fiber Sensor"( IEEE prognostics and health management )</a:t>
                      </a:r>
                      <a:endParaRPr lang="en-US" sz="1400" b="0" i="0" u="none" strike="noStrike" noProof="0">
                        <a:effectLst/>
                      </a:endParaRPr>
                    </a:p>
                  </a:txBody>
                  <a:tcPr/>
                </a:tc>
                <a:tc>
                  <a:txBody>
                    <a:bodyPr/>
                    <a:lstStyle/>
                    <a:p>
                      <a:pPr lvl="0" algn="l">
                        <a:lnSpc>
                          <a:spcPct val="100000"/>
                        </a:lnSpc>
                        <a:spcBef>
                          <a:spcPts val="0"/>
                        </a:spcBef>
                        <a:spcAft>
                          <a:spcPts val="0"/>
                        </a:spcAft>
                        <a:buNone/>
                      </a:pPr>
                      <a:r>
                        <a:rPr lang="en-US" sz="1400" b="0" i="0" u="none" strike="noStrike" noProof="0">
                          <a:effectLst/>
                        </a:rPr>
                        <a:t>Turbidity sensors can be integrated into an IoT system to enable real-time monitoring of turbidity levels, providing operators with timely information to adjust the treatment process and ensure optimal treatment efficiency</a:t>
                      </a:r>
                      <a:endParaRPr lang="en-US"/>
                    </a:p>
                    <a:p>
                      <a:pPr lvl="0" algn="l">
                        <a:buNone/>
                      </a:pPr>
                      <a:endParaRPr lang="en-US" sz="1400">
                        <a:effectLst/>
                        <a:latin typeface="Times New Roman"/>
                      </a:endParaRPr>
                    </a:p>
                  </a:txBody>
                  <a:tcPr/>
                </a:tc>
                <a:tc>
                  <a:txBody>
                    <a:bodyPr/>
                    <a:lstStyle/>
                    <a:p>
                      <a:pPr lvl="0" algn="l">
                        <a:lnSpc>
                          <a:spcPct val="100000"/>
                        </a:lnSpc>
                        <a:spcBef>
                          <a:spcPts val="0"/>
                        </a:spcBef>
                        <a:spcAft>
                          <a:spcPts val="0"/>
                        </a:spcAft>
                        <a:buNone/>
                      </a:pPr>
                      <a:r>
                        <a:rPr lang="en-US" sz="1400" b="0" i="0" u="none" strike="noStrike" noProof="0">
                          <a:effectLst/>
                        </a:rPr>
                        <a:t>It is affected by factors such as temperature, pressure, and the presence of air bubbles in the water. This can lead to inaccurate readings</a:t>
                      </a:r>
                      <a:endParaRPr lang="en-US"/>
                    </a:p>
                  </a:txBody>
                  <a:tcPr/>
                </a:tc>
                <a:extLst>
                  <a:ext uri="{0D108BD9-81ED-4DB2-BD59-A6C34878D82A}">
                    <a16:rowId xmlns:a16="http://schemas.microsoft.com/office/drawing/2014/main" val="1519442837"/>
                  </a:ext>
                </a:extLst>
              </a:tr>
            </a:tbl>
          </a:graphicData>
        </a:graphic>
      </p:graphicFrame>
      <p:sp>
        <p:nvSpPr>
          <p:cNvPr id="11" name="TextBox 10">
            <a:extLst>
              <a:ext uri="{FF2B5EF4-FFF2-40B4-BE49-F238E27FC236}">
                <a16:creationId xmlns:a16="http://schemas.microsoft.com/office/drawing/2014/main" id="{8A1D3778-3025-134F-ACC0-5A2516B4A2EF}"/>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C6AFF2B8-8D1F-9CE9-B90D-AE30D669B920}"/>
              </a:ext>
            </a:extLst>
          </p:cNvPr>
          <p:cNvSpPr>
            <a:spLocks noGrp="1"/>
          </p:cNvSpPr>
          <p:nvPr>
            <p:ph type="sldNum" sz="quarter" idx="12"/>
          </p:nvPr>
        </p:nvSpPr>
        <p:spPr/>
        <p:txBody>
          <a:bodyPr/>
          <a:lstStyle/>
          <a:p>
            <a:fld id="{48F63A3B-78C7-47BE-AE5E-E10140E04643}" type="slidenum">
              <a:rPr lang="en-US" dirty="0"/>
              <a:t>6</a:t>
            </a:fld>
            <a:endParaRPr lang="en-GB"/>
          </a:p>
        </p:txBody>
      </p:sp>
    </p:spTree>
    <p:extLst>
      <p:ext uri="{BB962C8B-B14F-4D97-AF65-F5344CB8AC3E}">
        <p14:creationId xmlns:p14="http://schemas.microsoft.com/office/powerpoint/2010/main" val="1839153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C23F-8267-DC78-877E-B5156FA44277}"/>
              </a:ext>
            </a:extLst>
          </p:cNvPr>
          <p:cNvSpPr>
            <a:spLocks noGrp="1"/>
          </p:cNvSpPr>
          <p:nvPr>
            <p:ph type="title"/>
          </p:nvPr>
        </p:nvSpPr>
        <p:spPr>
          <a:xfrm>
            <a:off x="-144713" y="-4050"/>
            <a:ext cx="6894657" cy="1016794"/>
          </a:xfrm>
        </p:spPr>
        <p:txBody>
          <a:bodyPr>
            <a:normAutofit/>
          </a:bodyPr>
          <a:lstStyle/>
          <a:p>
            <a:pPr algn="ctr"/>
            <a:r>
              <a:rPr lang="en-US" b="1">
                <a:solidFill>
                  <a:schemeClr val="accent1">
                    <a:lumMod val="50000"/>
                  </a:schemeClr>
                </a:solidFill>
                <a:latin typeface="Times New Roman"/>
                <a:cs typeface="Calibri Light"/>
              </a:rPr>
              <a:t>LITERATURE SURVEY</a:t>
            </a:r>
            <a:endParaRPr lang="en-US" b="1">
              <a:solidFill>
                <a:schemeClr val="accent1">
                  <a:lumMod val="50000"/>
                </a:schemeClr>
              </a:solidFill>
              <a:latin typeface="Times New Roman"/>
            </a:endParaRPr>
          </a:p>
        </p:txBody>
      </p:sp>
      <p:graphicFrame>
        <p:nvGraphicFramePr>
          <p:cNvPr id="5" name="Table 4">
            <a:extLst>
              <a:ext uri="{FF2B5EF4-FFF2-40B4-BE49-F238E27FC236}">
                <a16:creationId xmlns:a16="http://schemas.microsoft.com/office/drawing/2014/main" id="{BE02B2A1-E8A8-103E-D973-E3A10B011D4F}"/>
              </a:ext>
            </a:extLst>
          </p:cNvPr>
          <p:cNvGraphicFramePr>
            <a:graphicFrameLocks noGrp="1"/>
          </p:cNvGraphicFramePr>
          <p:nvPr>
            <p:extLst>
              <p:ext uri="{D42A27DB-BD31-4B8C-83A1-F6EECF244321}">
                <p14:modId xmlns:p14="http://schemas.microsoft.com/office/powerpoint/2010/main" val="3888120424"/>
              </p:ext>
            </p:extLst>
          </p:nvPr>
        </p:nvGraphicFramePr>
        <p:xfrm>
          <a:off x="251092" y="1012920"/>
          <a:ext cx="11788473" cy="5496498"/>
        </p:xfrm>
        <a:graphic>
          <a:graphicData uri="http://schemas.openxmlformats.org/drawingml/2006/table">
            <a:tbl>
              <a:tblPr firstRow="1" bandRow="1">
                <a:tableStyleId>{5C22544A-7EE6-4342-B048-85BDC9FD1C3A}</a:tableStyleId>
              </a:tblPr>
              <a:tblGrid>
                <a:gridCol w="771525">
                  <a:extLst>
                    <a:ext uri="{9D8B030D-6E8A-4147-A177-3AD203B41FA5}">
                      <a16:colId xmlns:a16="http://schemas.microsoft.com/office/drawing/2014/main" val="3654882452"/>
                    </a:ext>
                  </a:extLst>
                </a:gridCol>
                <a:gridCol w="2295179">
                  <a:extLst>
                    <a:ext uri="{9D8B030D-6E8A-4147-A177-3AD203B41FA5}">
                      <a16:colId xmlns:a16="http://schemas.microsoft.com/office/drawing/2014/main" val="2767008331"/>
                    </a:ext>
                  </a:extLst>
                </a:gridCol>
                <a:gridCol w="1759857">
                  <a:extLst>
                    <a:ext uri="{9D8B030D-6E8A-4147-A177-3AD203B41FA5}">
                      <a16:colId xmlns:a16="http://schemas.microsoft.com/office/drawing/2014/main" val="4260292283"/>
                    </a:ext>
                  </a:extLst>
                </a:gridCol>
                <a:gridCol w="2199309">
                  <a:extLst>
                    <a:ext uri="{9D8B030D-6E8A-4147-A177-3AD203B41FA5}">
                      <a16:colId xmlns:a16="http://schemas.microsoft.com/office/drawing/2014/main" val="1183016435"/>
                    </a:ext>
                  </a:extLst>
                </a:gridCol>
                <a:gridCol w="2868971">
                  <a:extLst>
                    <a:ext uri="{9D8B030D-6E8A-4147-A177-3AD203B41FA5}">
                      <a16:colId xmlns:a16="http://schemas.microsoft.com/office/drawing/2014/main" val="3933706915"/>
                    </a:ext>
                  </a:extLst>
                </a:gridCol>
                <a:gridCol w="1893632">
                  <a:extLst>
                    <a:ext uri="{9D8B030D-6E8A-4147-A177-3AD203B41FA5}">
                      <a16:colId xmlns:a16="http://schemas.microsoft.com/office/drawing/2014/main" val="338153471"/>
                    </a:ext>
                  </a:extLst>
                </a:gridCol>
              </a:tblGrid>
              <a:tr h="619698">
                <a:tc>
                  <a:txBody>
                    <a:bodyPr/>
                    <a:lstStyle/>
                    <a:p>
                      <a:pPr algn="ctr" fontAlgn="base"/>
                      <a:r>
                        <a:rPr lang="en-US" sz="1400">
                          <a:effectLst/>
                          <a:latin typeface="Times New Roman"/>
                        </a:rPr>
                        <a:t>S.NO​</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AUTHORS NAME(S)​</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YEAR OF PUBLICATION​</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FULL TITLE OF PAPER ​</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INFERENCE​</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OPEN PROBLEMS​</a:t>
                      </a:r>
                      <a:endParaRPr lang="en-US" sz="1400" b="1">
                        <a:solidFill>
                          <a:srgbClr val="FFFFFF"/>
                        </a:solidFill>
                        <a:effectLst/>
                        <a:latin typeface="Times New Roman"/>
                      </a:endParaRPr>
                    </a:p>
                  </a:txBody>
                  <a:tcPr/>
                </a:tc>
                <a:extLst>
                  <a:ext uri="{0D108BD9-81ED-4DB2-BD59-A6C34878D82A}">
                    <a16:rowId xmlns:a16="http://schemas.microsoft.com/office/drawing/2014/main" val="2523295999"/>
                  </a:ext>
                </a:extLst>
              </a:tr>
              <a:tr h="2111566">
                <a:tc>
                  <a:txBody>
                    <a:bodyPr/>
                    <a:lstStyle/>
                    <a:p>
                      <a:pPr algn="ctr" fontAlgn="base"/>
                      <a:r>
                        <a:rPr lang="en-US" sz="1400">
                          <a:effectLst/>
                          <a:latin typeface="Times New Roman"/>
                        </a:rPr>
                        <a:t>3.</a:t>
                      </a:r>
                    </a:p>
                  </a:txBody>
                  <a:tcPr/>
                </a:tc>
                <a:tc>
                  <a:txBody>
                    <a:bodyPr/>
                    <a:lstStyle/>
                    <a:p>
                      <a:pPr lvl="0">
                        <a:buNone/>
                      </a:pPr>
                      <a:r>
                        <a:rPr lang="en-US" sz="1400" b="0" i="0" u="none" strike="noStrike" baseline="0" noProof="0">
                          <a:solidFill>
                            <a:schemeClr val="tx1"/>
                          </a:solidFill>
                          <a:effectLst/>
                          <a:latin typeface="Calibri"/>
                        </a:rPr>
                        <a:t>Jayanthi G, Mathumitha N; Swathy S, Aaradhika S</a:t>
                      </a:r>
                      <a:endParaRPr lang="en-US">
                        <a:solidFill>
                          <a:schemeClr val="tx1"/>
                        </a:solidFill>
                      </a:endParaRPr>
                    </a:p>
                  </a:txBody>
                  <a:tcPr/>
                </a:tc>
                <a:tc>
                  <a:txBody>
                    <a:bodyPr/>
                    <a:lstStyle/>
                    <a:p>
                      <a:pPr lvl="0" algn="ctr">
                        <a:buNone/>
                      </a:pPr>
                      <a:r>
                        <a:rPr lang="en-US" sz="1400" b="0" i="0" u="none" strike="noStrike" noProof="0">
                          <a:effectLst/>
                        </a:rPr>
                        <a:t>2020</a:t>
                      </a:r>
                      <a:endParaRPr lang="en-US"/>
                    </a:p>
                  </a:txBody>
                  <a:tcPr/>
                </a:tc>
                <a:tc>
                  <a:txBody>
                    <a:bodyPr/>
                    <a:lstStyle/>
                    <a:p>
                      <a:pPr lvl="0" algn="l">
                        <a:lnSpc>
                          <a:spcPct val="100000"/>
                        </a:lnSpc>
                        <a:spcBef>
                          <a:spcPts val="0"/>
                        </a:spcBef>
                        <a:spcAft>
                          <a:spcPts val="0"/>
                        </a:spcAft>
                        <a:buNone/>
                      </a:pPr>
                      <a:r>
                        <a:rPr lang="en-GB" sz="1400" b="0" i="0" u="none" strike="noStrike" noProof="0">
                          <a:latin typeface="Calibri"/>
                        </a:rPr>
                        <a:t>Smart Monitoring and Control of Water Filtration System Using IOT,” International </a:t>
                      </a:r>
                      <a:r>
                        <a:rPr lang="en-GB" sz="1400" b="0" i="1" u="none" strike="noStrike" noProof="0">
                          <a:latin typeface="Calibri"/>
                        </a:rPr>
                        <a:t>Conference on Power,</a:t>
                      </a:r>
                      <a:r>
                        <a:rPr lang="en-GB" sz="1400" b="0" i="0" u="none" strike="noStrike" noProof="0">
                          <a:latin typeface="Calibri"/>
                        </a:rPr>
                        <a:t> </a:t>
                      </a:r>
                      <a:r>
                        <a:rPr lang="en-GB" sz="1400" b="0" i="1" u="none" strike="noStrike" noProof="0">
                          <a:latin typeface="Calibri"/>
                        </a:rPr>
                        <a:t>Energy, Control and Transmission Systems (ICPECTS)</a:t>
                      </a:r>
                      <a:endParaRPr lang="en-US"/>
                    </a:p>
                  </a:txBody>
                  <a:tcPr/>
                </a:tc>
                <a:tc>
                  <a:txBody>
                    <a:bodyPr/>
                    <a:lstStyle/>
                    <a:p>
                      <a:pPr lvl="0" algn="l">
                        <a:buNone/>
                      </a:pPr>
                      <a:r>
                        <a:rPr lang="en-US" sz="1400" b="0" i="0" u="none" strike="noStrike" noProof="0">
                          <a:effectLst/>
                          <a:latin typeface="Calibri"/>
                        </a:rPr>
                        <a:t>Before and after purification process</a:t>
                      </a:r>
                      <a:br>
                        <a:rPr lang="en-US" sz="1400" b="0" i="0" u="none" strike="noStrike" noProof="0">
                          <a:effectLst/>
                          <a:latin typeface="Calibri"/>
                        </a:rPr>
                      </a:br>
                      <a:r>
                        <a:rPr lang="en-US" sz="1400" b="0" i="0" u="none" strike="noStrike" noProof="0">
                          <a:effectLst/>
                          <a:latin typeface="Calibri"/>
                        </a:rPr>
                        <a:t> TDS sensor 1 and TDS sensor 2 are same, then a message will be sent to the consumer and the retailer</a:t>
                      </a:r>
                      <a:endParaRPr lang="en-US"/>
                    </a:p>
                  </a:txBody>
                  <a:tcPr/>
                </a:tc>
                <a:tc>
                  <a:txBody>
                    <a:bodyPr/>
                    <a:lstStyle/>
                    <a:p>
                      <a:pPr lvl="0" algn="l">
                        <a:lnSpc>
                          <a:spcPct val="100000"/>
                        </a:lnSpc>
                        <a:spcBef>
                          <a:spcPts val="0"/>
                        </a:spcBef>
                        <a:spcAft>
                          <a:spcPts val="0"/>
                        </a:spcAft>
                        <a:buNone/>
                      </a:pPr>
                      <a:r>
                        <a:rPr lang="en-US" sz="1400" b="0" i="0" u="none" strike="noStrike" noProof="0">
                          <a:effectLst/>
                        </a:rPr>
                        <a:t>The system requires regular maintenance and updates to ensure smooth operation and prevent system failures. This may require additional time, effort, and resources from the users</a:t>
                      </a:r>
                      <a:endParaRPr lang="en-US"/>
                    </a:p>
                    <a:p>
                      <a:pPr lvl="0" algn="l">
                        <a:lnSpc>
                          <a:spcPct val="100000"/>
                        </a:lnSpc>
                        <a:spcBef>
                          <a:spcPts val="0"/>
                        </a:spcBef>
                        <a:spcAft>
                          <a:spcPts val="0"/>
                        </a:spcAft>
                        <a:buNone/>
                      </a:pPr>
                      <a:endParaRPr lang="en-US" sz="1400" b="0" i="0" u="none" strike="noStrike" noProof="0">
                        <a:effectLst/>
                      </a:endParaRPr>
                    </a:p>
                    <a:p>
                      <a:pPr lvl="0" algn="l">
                        <a:buNone/>
                      </a:pPr>
                      <a:endParaRPr lang="en-US" sz="1400">
                        <a:effectLst/>
                        <a:latin typeface="Times New Roman"/>
                      </a:endParaRPr>
                    </a:p>
                  </a:txBody>
                  <a:tcPr/>
                </a:tc>
                <a:extLst>
                  <a:ext uri="{0D108BD9-81ED-4DB2-BD59-A6C34878D82A}">
                    <a16:rowId xmlns:a16="http://schemas.microsoft.com/office/drawing/2014/main" val="2937166490"/>
                  </a:ext>
                </a:extLst>
              </a:tr>
              <a:tr h="2054186">
                <a:tc>
                  <a:txBody>
                    <a:bodyPr/>
                    <a:lstStyle/>
                    <a:p>
                      <a:pPr lvl="0" algn="ctr">
                        <a:buNone/>
                      </a:pPr>
                      <a:r>
                        <a:rPr lang="en-US" sz="1400" u="none">
                          <a:effectLst/>
                          <a:latin typeface="Times New Roman"/>
                        </a:rPr>
                        <a:t>4.</a:t>
                      </a:r>
                    </a:p>
                  </a:txBody>
                  <a:tcPr/>
                </a:tc>
                <a:tc>
                  <a:txBody>
                    <a:bodyPr/>
                    <a:lstStyle/>
                    <a:p>
                      <a:pPr lvl="0" algn="l">
                        <a:lnSpc>
                          <a:spcPct val="100000"/>
                        </a:lnSpc>
                        <a:spcBef>
                          <a:spcPts val="0"/>
                        </a:spcBef>
                        <a:spcAft>
                          <a:spcPts val="0"/>
                        </a:spcAft>
                        <a:buNone/>
                      </a:pPr>
                      <a:r>
                        <a:rPr lang="en-US" sz="1400" b="0" i="0" u="none" strike="noStrike" baseline="0" noProof="0" err="1">
                          <a:solidFill>
                            <a:srgbClr val="000000"/>
                          </a:solidFill>
                          <a:effectLst/>
                          <a:latin typeface="Times New Roman"/>
                        </a:rPr>
                        <a:t>Bondan</a:t>
                      </a:r>
                      <a:r>
                        <a:rPr lang="en-US" sz="1400" b="0" i="0" u="none" strike="noStrike" baseline="0" noProof="0">
                          <a:solidFill>
                            <a:srgbClr val="000000"/>
                          </a:solidFill>
                          <a:effectLst/>
                          <a:latin typeface="Times New Roman"/>
                        </a:rPr>
                        <a:t> </a:t>
                      </a:r>
                      <a:r>
                        <a:rPr lang="en-US" sz="1400" b="0" i="0" u="none" strike="noStrike" baseline="0" noProof="0" err="1">
                          <a:solidFill>
                            <a:srgbClr val="000000"/>
                          </a:solidFill>
                          <a:effectLst/>
                          <a:latin typeface="Times New Roman"/>
                        </a:rPr>
                        <a:t>Suwandi</a:t>
                      </a:r>
                      <a:r>
                        <a:rPr lang="en-US" sz="1400" b="0" i="0" u="none" strike="noStrike" baseline="0" noProof="0">
                          <a:solidFill>
                            <a:srgbClr val="000000"/>
                          </a:solidFill>
                          <a:effectLst/>
                          <a:latin typeface="Times New Roman"/>
                        </a:rPr>
                        <a:t>, </a:t>
                      </a:r>
                      <a:endParaRPr lang="en-US" i="0">
                        <a:latin typeface="Times New Roman"/>
                      </a:endParaRPr>
                    </a:p>
                    <a:p>
                      <a:pPr lvl="0" algn="l">
                        <a:lnSpc>
                          <a:spcPct val="100000"/>
                        </a:lnSpc>
                        <a:spcBef>
                          <a:spcPts val="0"/>
                        </a:spcBef>
                        <a:spcAft>
                          <a:spcPts val="0"/>
                        </a:spcAft>
                        <a:buNone/>
                      </a:pPr>
                      <a:r>
                        <a:rPr lang="en-US" sz="1400" b="0" i="0" u="none" strike="noStrike" baseline="0" noProof="0">
                          <a:solidFill>
                            <a:srgbClr val="000000"/>
                          </a:solidFill>
                          <a:effectLst/>
                          <a:latin typeface="Times New Roman"/>
                        </a:rPr>
                        <a:t>Yuki </a:t>
                      </a:r>
                      <a:r>
                        <a:rPr lang="en-US" sz="1400" b="0" i="0" u="none" strike="noStrike" baseline="0" noProof="0" err="1">
                          <a:solidFill>
                            <a:srgbClr val="000000"/>
                          </a:solidFill>
                          <a:effectLst/>
                          <a:latin typeface="Times New Roman"/>
                        </a:rPr>
                        <a:t>Istianto</a:t>
                      </a:r>
                      <a:r>
                        <a:rPr lang="en-US" sz="1400" b="0" i="0" u="none" strike="noStrike" baseline="0" noProof="0">
                          <a:solidFill>
                            <a:srgbClr val="000000"/>
                          </a:solidFill>
                          <a:effectLst/>
                          <a:latin typeface="Times New Roman"/>
                        </a:rPr>
                        <a:t>, Budi Nugroho, </a:t>
                      </a:r>
                      <a:r>
                        <a:rPr lang="en-US" sz="1400" b="0" i="0" u="none" strike="noStrike" baseline="0" noProof="0" err="1">
                          <a:solidFill>
                            <a:srgbClr val="000000"/>
                          </a:solidFill>
                          <a:effectLst/>
                          <a:latin typeface="Times New Roman"/>
                        </a:rPr>
                        <a:t>Nashrullah</a:t>
                      </a:r>
                      <a:r>
                        <a:rPr lang="en-US" sz="1400" b="0" i="0" u="none" strike="noStrike" baseline="0" noProof="0">
                          <a:solidFill>
                            <a:srgbClr val="000000"/>
                          </a:solidFill>
                          <a:effectLst/>
                          <a:latin typeface="Times New Roman"/>
                        </a:rPr>
                        <a:t> Taufik, </a:t>
                      </a:r>
                      <a:r>
                        <a:rPr lang="en-US" sz="1400" b="0" i="0" u="none" strike="noStrike" baseline="0" noProof="0" err="1">
                          <a:solidFill>
                            <a:srgbClr val="000000"/>
                          </a:solidFill>
                          <a:effectLst/>
                          <a:latin typeface="Times New Roman"/>
                        </a:rPr>
                        <a:t>Siswayudi</a:t>
                      </a:r>
                      <a:r>
                        <a:rPr lang="en-US" sz="1400" b="0" i="0" u="none" strike="noStrike" baseline="0" noProof="0">
                          <a:solidFill>
                            <a:srgbClr val="000000"/>
                          </a:solidFill>
                          <a:effectLst/>
                          <a:latin typeface="Times New Roman"/>
                        </a:rPr>
                        <a:t> Azhari</a:t>
                      </a:r>
                      <a:endParaRPr lang="en-US" i="0">
                        <a:latin typeface="Times New Roman"/>
                      </a:endParaRPr>
                    </a:p>
                  </a:txBody>
                  <a:tcPr/>
                </a:tc>
                <a:tc>
                  <a:txBody>
                    <a:bodyPr/>
                    <a:lstStyle/>
                    <a:p>
                      <a:pPr lvl="0" algn="ctr">
                        <a:lnSpc>
                          <a:spcPct val="100000"/>
                        </a:lnSpc>
                        <a:spcBef>
                          <a:spcPts val="0"/>
                        </a:spcBef>
                        <a:spcAft>
                          <a:spcPts val="0"/>
                        </a:spcAft>
                        <a:buNone/>
                      </a:pPr>
                      <a:r>
                        <a:rPr lang="en-US" sz="1400" b="0" i="0" u="none" strike="noStrike" noProof="0">
                          <a:effectLst/>
                          <a:latin typeface="Times New Roman"/>
                        </a:rPr>
                        <a:t>2022</a:t>
                      </a:r>
                      <a:endParaRPr lang="en-US">
                        <a:latin typeface="Times New Roman"/>
                      </a:endParaRPr>
                    </a:p>
                    <a:p>
                      <a:pPr lvl="0" algn="ctr">
                        <a:buNone/>
                      </a:pPr>
                      <a:endParaRPr lang="en-US" sz="1400">
                        <a:effectLst/>
                        <a:latin typeface="Times New Roman"/>
                      </a:endParaRPr>
                    </a:p>
                  </a:txBody>
                  <a:tcPr/>
                </a:tc>
                <a:tc>
                  <a:txBody>
                    <a:bodyPr/>
                    <a:lstStyle/>
                    <a:p>
                      <a:pPr lvl="0" algn="l">
                        <a:lnSpc>
                          <a:spcPct val="100000"/>
                        </a:lnSpc>
                        <a:spcBef>
                          <a:spcPts val="0"/>
                        </a:spcBef>
                        <a:spcAft>
                          <a:spcPts val="0"/>
                        </a:spcAft>
                        <a:buNone/>
                      </a:pPr>
                      <a:r>
                        <a:rPr lang="en-US" sz="1400" b="0" i="0" u="none" strike="noStrike" noProof="0">
                          <a:effectLst/>
                        </a:rPr>
                        <a:t>Development of a Low-Cost TDS Sensor Using an Electric Plug with The Curve Fitting Method Approaches," (</a:t>
                      </a:r>
                      <a:r>
                        <a:rPr lang="en-US" sz="1400" b="0" i="1" u="none" strike="noStrike" noProof="0">
                          <a:effectLst/>
                        </a:rPr>
                        <a:t> International Conference on Radar, Antenna, Microwave, Electronics, and Telecommunications (ICRAMET))</a:t>
                      </a:r>
                      <a:endParaRPr lang="en-US"/>
                    </a:p>
                  </a:txBody>
                  <a:tcPr/>
                </a:tc>
                <a:tc>
                  <a:txBody>
                    <a:bodyPr/>
                    <a:lstStyle/>
                    <a:p>
                      <a:pPr lvl="0" algn="l">
                        <a:lnSpc>
                          <a:spcPct val="100000"/>
                        </a:lnSpc>
                        <a:spcBef>
                          <a:spcPts val="0"/>
                        </a:spcBef>
                        <a:spcAft>
                          <a:spcPts val="0"/>
                        </a:spcAft>
                        <a:buNone/>
                      </a:pPr>
                      <a:r>
                        <a:rPr lang="en-US" sz="1400" b="0" i="0" u="none" strike="noStrike" noProof="0">
                          <a:effectLst/>
                          <a:latin typeface="Calibri"/>
                        </a:rPr>
                        <a:t>Measure the concentration of dissolved solids in the wastewater.</a:t>
                      </a:r>
                      <a:endParaRPr lang="en-US"/>
                    </a:p>
                    <a:p>
                      <a:pPr lvl="0" algn="l">
                        <a:lnSpc>
                          <a:spcPct val="100000"/>
                        </a:lnSpc>
                        <a:spcBef>
                          <a:spcPts val="0"/>
                        </a:spcBef>
                        <a:spcAft>
                          <a:spcPts val="0"/>
                        </a:spcAft>
                        <a:buNone/>
                      </a:pPr>
                      <a:r>
                        <a:rPr lang="en-US" sz="1400" b="0" i="0" u="none" strike="noStrike" noProof="0">
                          <a:effectLst/>
                        </a:rPr>
                        <a:t>TDS sensor calibrates and maintenance to ensure accurate readings</a:t>
                      </a:r>
                      <a:endParaRPr lang="en-US"/>
                    </a:p>
                    <a:p>
                      <a:pPr lvl="0" algn="l">
                        <a:buNone/>
                      </a:pPr>
                      <a:endParaRPr lang="en-US" sz="1400">
                        <a:effectLst/>
                        <a:latin typeface="Times New Roman"/>
                      </a:endParaRPr>
                    </a:p>
                  </a:txBody>
                  <a:tcPr/>
                </a:tc>
                <a:tc>
                  <a:txBody>
                    <a:bodyPr/>
                    <a:lstStyle/>
                    <a:p>
                      <a:pPr lvl="0" algn="l">
                        <a:lnSpc>
                          <a:spcPct val="100000"/>
                        </a:lnSpc>
                        <a:spcBef>
                          <a:spcPts val="0"/>
                        </a:spcBef>
                        <a:spcAft>
                          <a:spcPts val="0"/>
                        </a:spcAft>
                        <a:buNone/>
                      </a:pPr>
                      <a:r>
                        <a:rPr lang="en-US" sz="1400" b="0" i="0" u="none" strike="noStrike" noProof="0">
                          <a:effectLst/>
                          <a:latin typeface="Calibri"/>
                        </a:rPr>
                        <a:t>limited information provided about the experiment setup, calibration procedures, and the data analysis method used</a:t>
                      </a:r>
                      <a:endParaRPr lang="en-US"/>
                    </a:p>
                  </a:txBody>
                  <a:tcPr/>
                </a:tc>
                <a:extLst>
                  <a:ext uri="{0D108BD9-81ED-4DB2-BD59-A6C34878D82A}">
                    <a16:rowId xmlns:a16="http://schemas.microsoft.com/office/drawing/2014/main" val="1519442837"/>
                  </a:ext>
                </a:extLst>
              </a:tr>
            </a:tbl>
          </a:graphicData>
        </a:graphic>
      </p:graphicFrame>
      <p:sp>
        <p:nvSpPr>
          <p:cNvPr id="11" name="TextBox 10">
            <a:extLst>
              <a:ext uri="{FF2B5EF4-FFF2-40B4-BE49-F238E27FC236}">
                <a16:creationId xmlns:a16="http://schemas.microsoft.com/office/drawing/2014/main" id="{8A1D3778-3025-134F-ACC0-5A2516B4A2EF}"/>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2D2C7B17-2062-9F7D-CF1E-D1B2D65F4535}"/>
              </a:ext>
            </a:extLst>
          </p:cNvPr>
          <p:cNvSpPr>
            <a:spLocks noGrp="1"/>
          </p:cNvSpPr>
          <p:nvPr>
            <p:ph type="sldNum" sz="quarter" idx="12"/>
          </p:nvPr>
        </p:nvSpPr>
        <p:spPr/>
        <p:txBody>
          <a:bodyPr/>
          <a:lstStyle/>
          <a:p>
            <a:fld id="{48F63A3B-78C7-47BE-AE5E-E10140E04643}" type="slidenum">
              <a:rPr lang="en-US" dirty="0"/>
              <a:t>7</a:t>
            </a:fld>
            <a:endParaRPr lang="en-GB"/>
          </a:p>
        </p:txBody>
      </p:sp>
    </p:spTree>
    <p:extLst>
      <p:ext uri="{BB962C8B-B14F-4D97-AF65-F5344CB8AC3E}">
        <p14:creationId xmlns:p14="http://schemas.microsoft.com/office/powerpoint/2010/main" val="4075274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C23F-8267-DC78-877E-B5156FA44277}"/>
              </a:ext>
            </a:extLst>
          </p:cNvPr>
          <p:cNvSpPr>
            <a:spLocks noGrp="1"/>
          </p:cNvSpPr>
          <p:nvPr>
            <p:ph type="title"/>
          </p:nvPr>
        </p:nvSpPr>
        <p:spPr>
          <a:xfrm>
            <a:off x="-144713" y="-4050"/>
            <a:ext cx="6894657" cy="1016794"/>
          </a:xfrm>
        </p:spPr>
        <p:txBody>
          <a:bodyPr>
            <a:normAutofit/>
          </a:bodyPr>
          <a:lstStyle/>
          <a:p>
            <a:pPr algn="ctr"/>
            <a:r>
              <a:rPr lang="en-US" b="1">
                <a:solidFill>
                  <a:schemeClr val="accent1">
                    <a:lumMod val="50000"/>
                  </a:schemeClr>
                </a:solidFill>
                <a:latin typeface="Times New Roman"/>
                <a:cs typeface="Calibri Light"/>
              </a:rPr>
              <a:t>LITERATURE SURVEY</a:t>
            </a:r>
            <a:endParaRPr lang="en-US" b="1">
              <a:solidFill>
                <a:schemeClr val="accent1">
                  <a:lumMod val="50000"/>
                </a:schemeClr>
              </a:solidFill>
              <a:latin typeface="Times New Roman"/>
            </a:endParaRPr>
          </a:p>
        </p:txBody>
      </p:sp>
      <p:graphicFrame>
        <p:nvGraphicFramePr>
          <p:cNvPr id="5" name="Table 4">
            <a:extLst>
              <a:ext uri="{FF2B5EF4-FFF2-40B4-BE49-F238E27FC236}">
                <a16:creationId xmlns:a16="http://schemas.microsoft.com/office/drawing/2014/main" id="{BE02B2A1-E8A8-103E-D973-E3A10B011D4F}"/>
              </a:ext>
            </a:extLst>
          </p:cNvPr>
          <p:cNvGraphicFramePr>
            <a:graphicFrameLocks noGrp="1"/>
          </p:cNvGraphicFramePr>
          <p:nvPr>
            <p:extLst>
              <p:ext uri="{D42A27DB-BD31-4B8C-83A1-F6EECF244321}">
                <p14:modId xmlns:p14="http://schemas.microsoft.com/office/powerpoint/2010/main" val="2637566049"/>
              </p:ext>
            </p:extLst>
          </p:nvPr>
        </p:nvGraphicFramePr>
        <p:xfrm>
          <a:off x="251092" y="1012920"/>
          <a:ext cx="11788479" cy="5383024"/>
        </p:xfrm>
        <a:graphic>
          <a:graphicData uri="http://schemas.openxmlformats.org/drawingml/2006/table">
            <a:tbl>
              <a:tblPr firstRow="1" bandRow="1">
                <a:tableStyleId>{5C22544A-7EE6-4342-B048-85BDC9FD1C3A}</a:tableStyleId>
              </a:tblPr>
              <a:tblGrid>
                <a:gridCol w="771525">
                  <a:extLst>
                    <a:ext uri="{9D8B030D-6E8A-4147-A177-3AD203B41FA5}">
                      <a16:colId xmlns:a16="http://schemas.microsoft.com/office/drawing/2014/main" val="3654882452"/>
                    </a:ext>
                  </a:extLst>
                </a:gridCol>
                <a:gridCol w="2295179">
                  <a:extLst>
                    <a:ext uri="{9D8B030D-6E8A-4147-A177-3AD203B41FA5}">
                      <a16:colId xmlns:a16="http://schemas.microsoft.com/office/drawing/2014/main" val="2767008331"/>
                    </a:ext>
                  </a:extLst>
                </a:gridCol>
                <a:gridCol w="1744337">
                  <a:extLst>
                    <a:ext uri="{9D8B030D-6E8A-4147-A177-3AD203B41FA5}">
                      <a16:colId xmlns:a16="http://schemas.microsoft.com/office/drawing/2014/main" val="4260292283"/>
                    </a:ext>
                  </a:extLst>
                </a:gridCol>
                <a:gridCol w="2214835">
                  <a:extLst>
                    <a:ext uri="{9D8B030D-6E8A-4147-A177-3AD203B41FA5}">
                      <a16:colId xmlns:a16="http://schemas.microsoft.com/office/drawing/2014/main" val="1183016435"/>
                    </a:ext>
                  </a:extLst>
                </a:gridCol>
                <a:gridCol w="2868971">
                  <a:extLst>
                    <a:ext uri="{9D8B030D-6E8A-4147-A177-3AD203B41FA5}">
                      <a16:colId xmlns:a16="http://schemas.microsoft.com/office/drawing/2014/main" val="3933706915"/>
                    </a:ext>
                  </a:extLst>
                </a:gridCol>
                <a:gridCol w="1893632">
                  <a:extLst>
                    <a:ext uri="{9D8B030D-6E8A-4147-A177-3AD203B41FA5}">
                      <a16:colId xmlns:a16="http://schemas.microsoft.com/office/drawing/2014/main" val="338153471"/>
                    </a:ext>
                  </a:extLst>
                </a:gridCol>
              </a:tblGrid>
              <a:tr h="619698">
                <a:tc>
                  <a:txBody>
                    <a:bodyPr/>
                    <a:lstStyle/>
                    <a:p>
                      <a:pPr algn="ctr" fontAlgn="base"/>
                      <a:r>
                        <a:rPr lang="en-US" sz="1400">
                          <a:effectLst/>
                          <a:latin typeface="Times New Roman"/>
                        </a:rPr>
                        <a:t>S.NO​</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AUTHORS NAME(S)​</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YEAR OF PUBLICATION​</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FULL TITLE OF PAPER ​</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INFERENCE​</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OPEN PROBLEMS​</a:t>
                      </a:r>
                      <a:endParaRPr lang="en-US" sz="1400" b="1">
                        <a:solidFill>
                          <a:srgbClr val="FFFFFF"/>
                        </a:solidFill>
                        <a:effectLst/>
                        <a:latin typeface="Times New Roman"/>
                      </a:endParaRPr>
                    </a:p>
                  </a:txBody>
                  <a:tcPr/>
                </a:tc>
                <a:extLst>
                  <a:ext uri="{0D108BD9-81ED-4DB2-BD59-A6C34878D82A}">
                    <a16:rowId xmlns:a16="http://schemas.microsoft.com/office/drawing/2014/main" val="2523295999"/>
                  </a:ext>
                </a:extLst>
              </a:tr>
              <a:tr h="2111566">
                <a:tc>
                  <a:txBody>
                    <a:bodyPr/>
                    <a:lstStyle/>
                    <a:p>
                      <a:pPr algn="ctr" fontAlgn="base"/>
                      <a:r>
                        <a:rPr lang="en-US" sz="1400">
                          <a:effectLst/>
                          <a:latin typeface="Times New Roman"/>
                        </a:rPr>
                        <a:t>5.</a:t>
                      </a:r>
                    </a:p>
                  </a:txBody>
                  <a:tcPr/>
                </a:tc>
                <a:tc>
                  <a:txBody>
                    <a:bodyPr/>
                    <a:lstStyle/>
                    <a:p>
                      <a:pPr lvl="0">
                        <a:buNone/>
                      </a:pPr>
                      <a:r>
                        <a:rPr lang="en-US" sz="1400" b="0" i="0" u="none" strike="noStrike" noProof="0">
                          <a:effectLst/>
                          <a:latin typeface="Calibri"/>
                        </a:rPr>
                        <a:t>A. Porwal, S. K. Mishra, A. Kela, G. Singh, M. Panchal and A. Jain</a:t>
                      </a:r>
                      <a:endParaRPr lang="en-US">
                        <a:hlinkClick r:id="" action="ppaction://noaction">
                          <a:extLst>
                            <a:ext uri="{A12FA001-AC4F-418D-AE19-62706E023703}">
                              <ahyp:hlinkClr xmlns:ahyp="http://schemas.microsoft.com/office/drawing/2018/hyperlinkcolor" val="tx"/>
                            </a:ext>
                          </a:extLst>
                        </a:hlinkClick>
                      </a:endParaRPr>
                    </a:p>
                    <a:p>
                      <a:pPr fontAlgn="base"/>
                      <a:r>
                        <a:rPr lang="en-US" sz="1400" u="none">
                          <a:solidFill>
                            <a:schemeClr val="tx1">
                              <a:lumMod val="95000"/>
                              <a:lumOff val="5000"/>
                            </a:schemeClr>
                          </a:solidFill>
                          <a:effectLst/>
                          <a:latin typeface="Times New Roman"/>
                        </a:rPr>
                        <a:t>​</a:t>
                      </a:r>
                    </a:p>
                  </a:txBody>
                  <a:tcPr/>
                </a:tc>
                <a:tc>
                  <a:txBody>
                    <a:bodyPr/>
                    <a:lstStyle/>
                    <a:p>
                      <a:pPr lvl="0" algn="ctr">
                        <a:buNone/>
                      </a:pPr>
                      <a:r>
                        <a:rPr lang="en-US" sz="1400" b="0" i="0" u="none" strike="noStrike" noProof="0">
                          <a:effectLst/>
                        </a:rPr>
                        <a:t>2022</a:t>
                      </a:r>
                      <a:endParaRPr lang="en-US"/>
                    </a:p>
                  </a:txBody>
                  <a:tcPr/>
                </a:tc>
                <a:tc>
                  <a:txBody>
                    <a:bodyPr/>
                    <a:lstStyle/>
                    <a:p>
                      <a:pPr lvl="0" algn="l">
                        <a:lnSpc>
                          <a:spcPct val="100000"/>
                        </a:lnSpc>
                        <a:spcBef>
                          <a:spcPts val="0"/>
                        </a:spcBef>
                        <a:spcAft>
                          <a:spcPts val="0"/>
                        </a:spcAft>
                        <a:buNone/>
                      </a:pPr>
                      <a:r>
                        <a:rPr lang="en-GB" sz="1400" b="0" i="0" u="none" strike="noStrike" noProof="0">
                          <a:latin typeface="Calibri"/>
                        </a:rPr>
                        <a:t>"Prediction and Prevention of Water Pollution by Industries using IoT based Monitoring System," </a:t>
                      </a:r>
                      <a:r>
                        <a:rPr lang="en-GB" sz="1400" b="0" i="1" u="none" strike="noStrike" noProof="0">
                          <a:latin typeface="Calibri"/>
                        </a:rPr>
                        <a:t>2022 IEEE 11th International Conference on Communication Systems and Network Technologies (CSNT)</a:t>
                      </a:r>
                      <a:endParaRPr lang="en-US"/>
                    </a:p>
                  </a:txBody>
                  <a:tcPr/>
                </a:tc>
                <a:tc>
                  <a:txBody>
                    <a:bodyPr/>
                    <a:lstStyle/>
                    <a:p>
                      <a:pPr lvl="0" algn="l">
                        <a:buNone/>
                      </a:pPr>
                      <a:r>
                        <a:rPr lang="en-US" sz="1400" b="0" i="0" u="none" strike="noStrike" noProof="0">
                          <a:effectLst/>
                          <a:latin typeface="Calibri"/>
                        </a:rPr>
                        <a:t>Real-time insights into the data sent by each device in the device-network. Real time alerts are notified in the phone itself and necessary actions can be taken if needed.</a:t>
                      </a:r>
                      <a:endParaRPr lang="en-US"/>
                    </a:p>
                  </a:txBody>
                  <a:tcPr/>
                </a:tc>
                <a:tc>
                  <a:txBody>
                    <a:bodyPr/>
                    <a:lstStyle/>
                    <a:p>
                      <a:pPr lvl="0" algn="l">
                        <a:lnSpc>
                          <a:spcPct val="100000"/>
                        </a:lnSpc>
                        <a:spcBef>
                          <a:spcPts val="0"/>
                        </a:spcBef>
                        <a:spcAft>
                          <a:spcPts val="0"/>
                        </a:spcAft>
                        <a:buNone/>
                      </a:pPr>
                      <a:r>
                        <a:rPr lang="en-US" sz="1400" b="0" i="0" u="none" strike="noStrike" noProof="0">
                          <a:effectLst/>
                          <a:latin typeface="Calibri"/>
                        </a:rPr>
                        <a:t>IoT cloud infrastructure and services can be expensive. </a:t>
                      </a:r>
                      <a:r>
                        <a:rPr lang="en-US" sz="1400" b="0" i="0" u="none" strike="noStrike" noProof="0">
                          <a:effectLst/>
                        </a:rPr>
                        <a:t>IoT devices generate a massive amount of data, which needs to be processed, analyzed, and stored</a:t>
                      </a:r>
                      <a:endParaRPr lang="en-US"/>
                    </a:p>
                  </a:txBody>
                  <a:tcPr/>
                </a:tc>
                <a:extLst>
                  <a:ext uri="{0D108BD9-81ED-4DB2-BD59-A6C34878D82A}">
                    <a16:rowId xmlns:a16="http://schemas.microsoft.com/office/drawing/2014/main" val="2937166490"/>
                  </a:ext>
                </a:extLst>
              </a:tr>
              <a:tr h="2111566">
                <a:tc>
                  <a:txBody>
                    <a:bodyPr/>
                    <a:lstStyle/>
                    <a:p>
                      <a:pPr lvl="0" algn="ctr">
                        <a:buNone/>
                      </a:pPr>
                      <a:r>
                        <a:rPr lang="en-US" sz="1400">
                          <a:effectLst/>
                          <a:latin typeface="Times New Roman"/>
                        </a:rPr>
                        <a:t>6.</a:t>
                      </a:r>
                    </a:p>
                  </a:txBody>
                  <a:tcPr/>
                </a:tc>
                <a:tc>
                  <a:txBody>
                    <a:bodyPr/>
                    <a:lstStyle/>
                    <a:p>
                      <a:pPr lvl="0">
                        <a:buNone/>
                      </a:pPr>
                      <a:r>
                        <a:rPr lang="en-US" sz="1400" b="0" i="0" u="none" strike="noStrike" noProof="0">
                          <a:effectLst/>
                        </a:rPr>
                        <a:t>M. Salem, M. S. Saraya and A. M. T. Ali-Eldin</a:t>
                      </a:r>
                      <a:endParaRPr lang="en-US"/>
                    </a:p>
                  </a:txBody>
                  <a:tcPr/>
                </a:tc>
                <a:tc>
                  <a:txBody>
                    <a:bodyPr/>
                    <a:lstStyle/>
                    <a:p>
                      <a:pPr lvl="0" algn="ctr">
                        <a:buNone/>
                      </a:pPr>
                      <a:r>
                        <a:rPr lang="en-US" sz="1400" b="0" i="0" u="none" strike="noStrike" noProof="0">
                          <a:effectLst/>
                        </a:rPr>
                        <a:t>2022</a:t>
                      </a:r>
                    </a:p>
                  </a:txBody>
                  <a:tcPr/>
                </a:tc>
                <a:tc>
                  <a:txBody>
                    <a:bodyPr/>
                    <a:lstStyle/>
                    <a:p>
                      <a:pPr lvl="0" algn="l">
                        <a:lnSpc>
                          <a:spcPct val="100000"/>
                        </a:lnSpc>
                        <a:spcBef>
                          <a:spcPts val="0"/>
                        </a:spcBef>
                        <a:spcAft>
                          <a:spcPts val="0"/>
                        </a:spcAft>
                        <a:buNone/>
                      </a:pPr>
                      <a:r>
                        <a:rPr lang="en-GB" sz="1400" b="0" i="0" u="none" strike="noStrike" noProof="0"/>
                        <a:t>"An Industrial Cloud-Based IoT System for Real-Time Monitoring and Controlling of Wastewater, "</a:t>
                      </a:r>
                      <a:r>
                        <a:rPr lang="en-GB" sz="1400" b="0" i="1" u="none" strike="noStrike" noProof="0">
                          <a:latin typeface="Calibri"/>
                        </a:rPr>
                        <a:t>IEEE Access"</a:t>
                      </a:r>
                      <a:endParaRPr lang="en-US"/>
                    </a:p>
                  </a:txBody>
                  <a:tcPr/>
                </a:tc>
                <a:tc>
                  <a:txBody>
                    <a:bodyPr/>
                    <a:lstStyle/>
                    <a:p>
                      <a:pPr lvl="0" algn="l">
                        <a:buNone/>
                      </a:pPr>
                      <a:r>
                        <a:rPr lang="en-US" sz="1400" b="0" i="0" u="none" strike="noStrike" noProof="0">
                          <a:effectLst/>
                        </a:rPr>
                        <a:t>A cloud-based architecture for the system, which enables remote monitoring and control of wastewater treatment plants. The system utilizes cloud-based databases to store and process data from the sensors</a:t>
                      </a:r>
                      <a:endParaRPr lang="en-US"/>
                    </a:p>
                  </a:txBody>
                  <a:tcPr/>
                </a:tc>
                <a:tc>
                  <a:txBody>
                    <a:bodyPr/>
                    <a:lstStyle/>
                    <a:p>
                      <a:pPr lvl="0" algn="just">
                        <a:lnSpc>
                          <a:spcPct val="100000"/>
                        </a:lnSpc>
                        <a:spcBef>
                          <a:spcPts val="0"/>
                        </a:spcBef>
                        <a:spcAft>
                          <a:spcPts val="0"/>
                        </a:spcAft>
                        <a:buNone/>
                      </a:pPr>
                      <a:r>
                        <a:rPr lang="en-US" sz="1400" b="0" i="0" u="none" strike="noStrike" noProof="0">
                          <a:effectLst/>
                          <a:latin typeface="Calibri"/>
                        </a:rPr>
                        <a:t>The system's cloud-based architecture relies heavily on internet connectivity. If the internet connection is slow or unreliable, the system's performance may be affected, leading to potential downtime or inaccurate monitoring</a:t>
                      </a:r>
                      <a:endParaRPr lang="en-US"/>
                    </a:p>
                    <a:p>
                      <a:pPr lvl="0" algn="l">
                        <a:lnSpc>
                          <a:spcPct val="100000"/>
                        </a:lnSpc>
                        <a:spcBef>
                          <a:spcPts val="0"/>
                        </a:spcBef>
                        <a:spcAft>
                          <a:spcPts val="0"/>
                        </a:spcAft>
                        <a:buNone/>
                      </a:pPr>
                      <a:endParaRPr lang="en-US" sz="1400" b="0" i="0" u="none" strike="noStrike" noProof="0">
                        <a:effectLst/>
                      </a:endParaRPr>
                    </a:p>
                  </a:txBody>
                  <a:tcPr/>
                </a:tc>
                <a:extLst>
                  <a:ext uri="{0D108BD9-81ED-4DB2-BD59-A6C34878D82A}">
                    <a16:rowId xmlns:a16="http://schemas.microsoft.com/office/drawing/2014/main" val="1803249102"/>
                  </a:ext>
                </a:extLst>
              </a:tr>
            </a:tbl>
          </a:graphicData>
        </a:graphic>
      </p:graphicFrame>
      <p:sp>
        <p:nvSpPr>
          <p:cNvPr id="11" name="TextBox 10">
            <a:extLst>
              <a:ext uri="{FF2B5EF4-FFF2-40B4-BE49-F238E27FC236}">
                <a16:creationId xmlns:a16="http://schemas.microsoft.com/office/drawing/2014/main" id="{8A1D3778-3025-134F-ACC0-5A2516B4A2EF}"/>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6" name="Slide Number Placeholder 5">
            <a:extLst>
              <a:ext uri="{FF2B5EF4-FFF2-40B4-BE49-F238E27FC236}">
                <a16:creationId xmlns:a16="http://schemas.microsoft.com/office/drawing/2014/main" id="{516754D7-56A2-77AF-7631-02565794F663}"/>
              </a:ext>
            </a:extLst>
          </p:cNvPr>
          <p:cNvSpPr>
            <a:spLocks noGrp="1"/>
          </p:cNvSpPr>
          <p:nvPr>
            <p:ph type="sldNum" sz="quarter" idx="12"/>
          </p:nvPr>
        </p:nvSpPr>
        <p:spPr/>
        <p:txBody>
          <a:bodyPr/>
          <a:lstStyle/>
          <a:p>
            <a:fld id="{48F63A3B-78C7-47BE-AE5E-E10140E04643}" type="slidenum">
              <a:rPr lang="en-US" dirty="0"/>
              <a:t>8</a:t>
            </a:fld>
            <a:endParaRPr lang="en-GB"/>
          </a:p>
        </p:txBody>
      </p:sp>
    </p:spTree>
    <p:extLst>
      <p:ext uri="{BB962C8B-B14F-4D97-AF65-F5344CB8AC3E}">
        <p14:creationId xmlns:p14="http://schemas.microsoft.com/office/powerpoint/2010/main" val="414252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DC23F-8267-DC78-877E-B5156FA44277}"/>
              </a:ext>
            </a:extLst>
          </p:cNvPr>
          <p:cNvSpPr>
            <a:spLocks noGrp="1"/>
          </p:cNvSpPr>
          <p:nvPr>
            <p:ph type="title"/>
          </p:nvPr>
        </p:nvSpPr>
        <p:spPr>
          <a:xfrm>
            <a:off x="-144713" y="-4050"/>
            <a:ext cx="6894657" cy="1016794"/>
          </a:xfrm>
        </p:spPr>
        <p:txBody>
          <a:bodyPr>
            <a:normAutofit/>
          </a:bodyPr>
          <a:lstStyle/>
          <a:p>
            <a:pPr algn="ctr"/>
            <a:r>
              <a:rPr lang="en-US" b="1">
                <a:solidFill>
                  <a:schemeClr val="accent1">
                    <a:lumMod val="50000"/>
                  </a:schemeClr>
                </a:solidFill>
                <a:latin typeface="Times New Roman"/>
                <a:cs typeface="Calibri Light"/>
              </a:rPr>
              <a:t>LITERATURE SURVEY</a:t>
            </a:r>
            <a:endParaRPr lang="en-US" b="1">
              <a:solidFill>
                <a:schemeClr val="accent1">
                  <a:lumMod val="50000"/>
                </a:schemeClr>
              </a:solidFill>
              <a:latin typeface="Times New Roman"/>
            </a:endParaRPr>
          </a:p>
        </p:txBody>
      </p:sp>
      <p:graphicFrame>
        <p:nvGraphicFramePr>
          <p:cNvPr id="5" name="Table 4">
            <a:extLst>
              <a:ext uri="{FF2B5EF4-FFF2-40B4-BE49-F238E27FC236}">
                <a16:creationId xmlns:a16="http://schemas.microsoft.com/office/drawing/2014/main" id="{BE02B2A1-E8A8-103E-D973-E3A10B011D4F}"/>
              </a:ext>
            </a:extLst>
          </p:cNvPr>
          <p:cNvGraphicFramePr>
            <a:graphicFrameLocks noGrp="1"/>
          </p:cNvGraphicFramePr>
          <p:nvPr>
            <p:extLst>
              <p:ext uri="{D42A27DB-BD31-4B8C-83A1-F6EECF244321}">
                <p14:modId xmlns:p14="http://schemas.microsoft.com/office/powerpoint/2010/main" val="6386611"/>
              </p:ext>
            </p:extLst>
          </p:nvPr>
        </p:nvGraphicFramePr>
        <p:xfrm>
          <a:off x="141650" y="1300865"/>
          <a:ext cx="11788479" cy="3366585"/>
        </p:xfrm>
        <a:graphic>
          <a:graphicData uri="http://schemas.openxmlformats.org/drawingml/2006/table">
            <a:tbl>
              <a:tblPr firstRow="1" bandRow="1">
                <a:tableStyleId>{5C22544A-7EE6-4342-B048-85BDC9FD1C3A}</a:tableStyleId>
              </a:tblPr>
              <a:tblGrid>
                <a:gridCol w="771525">
                  <a:extLst>
                    <a:ext uri="{9D8B030D-6E8A-4147-A177-3AD203B41FA5}">
                      <a16:colId xmlns:a16="http://schemas.microsoft.com/office/drawing/2014/main" val="3654882452"/>
                    </a:ext>
                  </a:extLst>
                </a:gridCol>
                <a:gridCol w="2295179">
                  <a:extLst>
                    <a:ext uri="{9D8B030D-6E8A-4147-A177-3AD203B41FA5}">
                      <a16:colId xmlns:a16="http://schemas.microsoft.com/office/drawing/2014/main" val="2767008331"/>
                    </a:ext>
                  </a:extLst>
                </a:gridCol>
                <a:gridCol w="1744337">
                  <a:extLst>
                    <a:ext uri="{9D8B030D-6E8A-4147-A177-3AD203B41FA5}">
                      <a16:colId xmlns:a16="http://schemas.microsoft.com/office/drawing/2014/main" val="4260292283"/>
                    </a:ext>
                  </a:extLst>
                </a:gridCol>
                <a:gridCol w="2214835">
                  <a:extLst>
                    <a:ext uri="{9D8B030D-6E8A-4147-A177-3AD203B41FA5}">
                      <a16:colId xmlns:a16="http://schemas.microsoft.com/office/drawing/2014/main" val="1183016435"/>
                    </a:ext>
                  </a:extLst>
                </a:gridCol>
                <a:gridCol w="2868971">
                  <a:extLst>
                    <a:ext uri="{9D8B030D-6E8A-4147-A177-3AD203B41FA5}">
                      <a16:colId xmlns:a16="http://schemas.microsoft.com/office/drawing/2014/main" val="3933706915"/>
                    </a:ext>
                  </a:extLst>
                </a:gridCol>
                <a:gridCol w="1893632">
                  <a:extLst>
                    <a:ext uri="{9D8B030D-6E8A-4147-A177-3AD203B41FA5}">
                      <a16:colId xmlns:a16="http://schemas.microsoft.com/office/drawing/2014/main" val="338153471"/>
                    </a:ext>
                  </a:extLst>
                </a:gridCol>
              </a:tblGrid>
              <a:tr h="619698">
                <a:tc>
                  <a:txBody>
                    <a:bodyPr/>
                    <a:lstStyle/>
                    <a:p>
                      <a:pPr algn="ctr" fontAlgn="base"/>
                      <a:r>
                        <a:rPr lang="en-US" sz="1400">
                          <a:effectLst/>
                          <a:latin typeface="Times New Roman"/>
                        </a:rPr>
                        <a:t>S.NO​</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AUTHORS NAME(S)​</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YEAR OF PUBLICATION​</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FULL TITLE OF PAPER ​</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INFERENCE​</a:t>
                      </a:r>
                      <a:endParaRPr lang="en-US" sz="1400" b="1">
                        <a:solidFill>
                          <a:srgbClr val="FFFFFF"/>
                        </a:solidFill>
                        <a:effectLst/>
                        <a:latin typeface="Times New Roman"/>
                      </a:endParaRPr>
                    </a:p>
                  </a:txBody>
                  <a:tcPr/>
                </a:tc>
                <a:tc>
                  <a:txBody>
                    <a:bodyPr/>
                    <a:lstStyle/>
                    <a:p>
                      <a:pPr algn="ctr" fontAlgn="base"/>
                      <a:r>
                        <a:rPr lang="en-US" sz="1400">
                          <a:effectLst/>
                          <a:latin typeface="Times New Roman"/>
                        </a:rPr>
                        <a:t>OPEN PROBLEMS​</a:t>
                      </a:r>
                      <a:endParaRPr lang="en-US" sz="1400" b="1">
                        <a:solidFill>
                          <a:srgbClr val="FFFFFF"/>
                        </a:solidFill>
                        <a:effectLst/>
                        <a:latin typeface="Times New Roman"/>
                      </a:endParaRPr>
                    </a:p>
                  </a:txBody>
                  <a:tcPr/>
                </a:tc>
                <a:extLst>
                  <a:ext uri="{0D108BD9-81ED-4DB2-BD59-A6C34878D82A}">
                    <a16:rowId xmlns:a16="http://schemas.microsoft.com/office/drawing/2014/main" val="2523295999"/>
                  </a:ext>
                </a:extLst>
              </a:tr>
              <a:tr h="2746887">
                <a:tc>
                  <a:txBody>
                    <a:bodyPr/>
                    <a:lstStyle/>
                    <a:p>
                      <a:pPr lvl="0" algn="ctr">
                        <a:buNone/>
                      </a:pPr>
                      <a:r>
                        <a:rPr lang="en-US" sz="1400">
                          <a:effectLst/>
                          <a:latin typeface="Times New Roman"/>
                        </a:rPr>
                        <a:t>7.</a:t>
                      </a:r>
                    </a:p>
                  </a:txBody>
                  <a:tcPr/>
                </a:tc>
                <a:tc>
                  <a:txBody>
                    <a:bodyPr/>
                    <a:lstStyle/>
                    <a:p>
                      <a:pPr lvl="0">
                        <a:buNone/>
                      </a:pPr>
                      <a:r>
                        <a:rPr lang="en-US" sz="1400" b="0" i="0" u="none" strike="noStrike" noProof="0">
                          <a:solidFill>
                            <a:srgbClr val="333333"/>
                          </a:solidFill>
                          <a:effectLst/>
                          <a:latin typeface="Times New Roman"/>
                        </a:rPr>
                        <a:t>R. M. </a:t>
                      </a:r>
                      <a:r>
                        <a:rPr lang="en-US" sz="1400" b="0" i="0" u="none" strike="noStrike" noProof="0" err="1">
                          <a:solidFill>
                            <a:srgbClr val="333333"/>
                          </a:solidFill>
                          <a:effectLst/>
                          <a:latin typeface="Times New Roman"/>
                        </a:rPr>
                        <a:t>Kingsta</a:t>
                      </a:r>
                      <a:r>
                        <a:rPr lang="en-US" sz="1400" b="0" i="0" u="none" strike="noStrike" noProof="0">
                          <a:solidFill>
                            <a:srgbClr val="333333"/>
                          </a:solidFill>
                          <a:effectLst/>
                          <a:latin typeface="Times New Roman"/>
                        </a:rPr>
                        <a:t>, A. S. Saumi and P. Saranya,</a:t>
                      </a:r>
                      <a:endParaRPr lang="en-US" sz="1400">
                        <a:latin typeface="Times New Roman"/>
                      </a:endParaRPr>
                    </a:p>
                  </a:txBody>
                  <a:tcPr/>
                </a:tc>
                <a:tc>
                  <a:txBody>
                    <a:bodyPr/>
                    <a:lstStyle/>
                    <a:p>
                      <a:pPr lvl="0" algn="ctr">
                        <a:buNone/>
                      </a:pPr>
                      <a:r>
                        <a:rPr lang="en-US" sz="1400" b="0" i="0" u="none" strike="noStrike" noProof="0">
                          <a:effectLst/>
                          <a:latin typeface="Times New Roman"/>
                        </a:rPr>
                        <a:t>2019</a:t>
                      </a:r>
                    </a:p>
                  </a:txBody>
                  <a:tcPr/>
                </a:tc>
                <a:tc>
                  <a:txBody>
                    <a:bodyPr/>
                    <a:lstStyle/>
                    <a:p>
                      <a:pPr lvl="0" algn="l">
                        <a:lnSpc>
                          <a:spcPct val="100000"/>
                        </a:lnSpc>
                        <a:spcBef>
                          <a:spcPts val="0"/>
                        </a:spcBef>
                        <a:spcAft>
                          <a:spcPts val="0"/>
                        </a:spcAft>
                        <a:buNone/>
                      </a:pPr>
                      <a:r>
                        <a:rPr lang="en-GB" sz="1400" b="0" i="0">
                          <a:solidFill>
                            <a:srgbClr val="333333"/>
                          </a:solidFill>
                          <a:latin typeface="Times New Roman"/>
                        </a:rPr>
                        <a:t>Design and Construction of Arduino Based pH Control System for Household Wastewater Reuse</a:t>
                      </a:r>
                      <a:endParaRPr lang="en-US" sz="1400" b="0">
                        <a:latin typeface="Times New Roman"/>
                      </a:endParaRPr>
                    </a:p>
                    <a:p>
                      <a:pPr lvl="0" algn="l">
                        <a:lnSpc>
                          <a:spcPct val="100000"/>
                        </a:lnSpc>
                        <a:spcBef>
                          <a:spcPts val="0"/>
                        </a:spcBef>
                        <a:spcAft>
                          <a:spcPts val="0"/>
                        </a:spcAft>
                        <a:buNone/>
                      </a:pPr>
                      <a:endParaRPr lang="en-GB" sz="1400" b="0" i="0" u="none" strike="noStrike" noProof="0">
                        <a:latin typeface="Times New Roman"/>
                      </a:endParaRPr>
                    </a:p>
                  </a:txBody>
                  <a:tcPr/>
                </a:tc>
                <a:tc>
                  <a:txBody>
                    <a:bodyPr/>
                    <a:lstStyle/>
                    <a:p>
                      <a:pPr lvl="0" algn="l">
                        <a:buNone/>
                      </a:pPr>
                      <a:r>
                        <a:rPr lang="en-US" sz="1400" b="0" i="0" u="none" strike="noStrike" baseline="0" noProof="0">
                          <a:solidFill>
                            <a:srgbClr val="333333"/>
                          </a:solidFill>
                          <a:effectLst/>
                          <a:latin typeface="Times New Roman"/>
                        </a:rPr>
                        <a:t>This paper proposes an automatic system that treats the household wastewater to obtain optimum pH which is suitable for crop irrigation. </a:t>
                      </a:r>
                      <a:endParaRPr lang="en-US" sz="1400">
                        <a:latin typeface="Times New Roman"/>
                      </a:endParaRPr>
                    </a:p>
                  </a:txBody>
                  <a:tcPr/>
                </a:tc>
                <a:tc>
                  <a:txBody>
                    <a:bodyPr/>
                    <a:lstStyle/>
                    <a:p>
                      <a:pPr lvl="0" algn="l">
                        <a:lnSpc>
                          <a:spcPct val="100000"/>
                        </a:lnSpc>
                        <a:spcBef>
                          <a:spcPts val="0"/>
                        </a:spcBef>
                        <a:spcAft>
                          <a:spcPts val="0"/>
                        </a:spcAft>
                        <a:buNone/>
                      </a:pPr>
                      <a:r>
                        <a:rPr lang="en-US" sz="1400" b="0" i="0" u="none" strike="noStrike" baseline="0" noProof="0">
                          <a:solidFill>
                            <a:srgbClr val="333333"/>
                          </a:solidFill>
                          <a:effectLst/>
                          <a:latin typeface="Times New Roman"/>
                        </a:rPr>
                        <a:t>Water pH is much important for crop management as it affects the solubility of fertilizers, and the efficacy of insecticides and fungicides .Generally, the higher the water pH, the lower the solubility of materials. </a:t>
                      </a:r>
                    </a:p>
                  </a:txBody>
                  <a:tcPr/>
                </a:tc>
                <a:extLst>
                  <a:ext uri="{0D108BD9-81ED-4DB2-BD59-A6C34878D82A}">
                    <a16:rowId xmlns:a16="http://schemas.microsoft.com/office/drawing/2014/main" val="600789517"/>
                  </a:ext>
                </a:extLst>
              </a:tr>
            </a:tbl>
          </a:graphicData>
        </a:graphic>
      </p:graphicFrame>
      <p:sp>
        <p:nvSpPr>
          <p:cNvPr id="6" name="Slide Number Placeholder 5">
            <a:extLst>
              <a:ext uri="{FF2B5EF4-FFF2-40B4-BE49-F238E27FC236}">
                <a16:creationId xmlns:a16="http://schemas.microsoft.com/office/drawing/2014/main" id="{516754D7-56A2-77AF-7631-02565794F663}"/>
              </a:ext>
            </a:extLst>
          </p:cNvPr>
          <p:cNvSpPr>
            <a:spLocks noGrp="1"/>
          </p:cNvSpPr>
          <p:nvPr>
            <p:ph type="sldNum" sz="quarter" idx="12"/>
          </p:nvPr>
        </p:nvSpPr>
        <p:spPr/>
        <p:txBody>
          <a:bodyPr/>
          <a:lstStyle/>
          <a:p>
            <a:fld id="{48F63A3B-78C7-47BE-AE5E-E10140E04643}" type="slidenum">
              <a:rPr lang="en-US" dirty="0"/>
              <a:t>9</a:t>
            </a:fld>
            <a:endParaRPr lang="en-GB"/>
          </a:p>
        </p:txBody>
      </p:sp>
    </p:spTree>
    <p:extLst>
      <p:ext uri="{BB962C8B-B14F-4D97-AF65-F5344CB8AC3E}">
        <p14:creationId xmlns:p14="http://schemas.microsoft.com/office/powerpoint/2010/main" val="365851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15BCC-AD7D-C943-4F21-8DEE4162A417}"/>
              </a:ext>
            </a:extLst>
          </p:cNvPr>
          <p:cNvSpPr>
            <a:spLocks noGrp="1"/>
          </p:cNvSpPr>
          <p:nvPr>
            <p:ph type="title"/>
          </p:nvPr>
        </p:nvSpPr>
        <p:spPr/>
        <p:txBody>
          <a:bodyPr/>
          <a:lstStyle/>
          <a:p>
            <a:r>
              <a:rPr lang="en-GB" b="1">
                <a:latin typeface="Times New Roman"/>
                <a:cs typeface="Calibri Light"/>
              </a:rPr>
              <a:t>Block diagram</a:t>
            </a:r>
          </a:p>
        </p:txBody>
      </p:sp>
      <p:sp>
        <p:nvSpPr>
          <p:cNvPr id="3" name="Content Placeholder 2">
            <a:extLst>
              <a:ext uri="{FF2B5EF4-FFF2-40B4-BE49-F238E27FC236}">
                <a16:creationId xmlns:a16="http://schemas.microsoft.com/office/drawing/2014/main" id="{4D218766-E030-5B60-6655-8DE089E99F1D}"/>
              </a:ext>
            </a:extLst>
          </p:cNvPr>
          <p:cNvSpPr>
            <a:spLocks noGrp="1"/>
          </p:cNvSpPr>
          <p:nvPr>
            <p:ph idx="1"/>
          </p:nvPr>
        </p:nvSpPr>
        <p:spPr/>
        <p:txBody>
          <a:bodyPr/>
          <a:lstStyle/>
          <a:p>
            <a:endParaRPr lang="en-GB"/>
          </a:p>
        </p:txBody>
      </p:sp>
      <p:sp>
        <p:nvSpPr>
          <p:cNvPr id="4" name="Rectangle 3">
            <a:extLst>
              <a:ext uri="{FF2B5EF4-FFF2-40B4-BE49-F238E27FC236}">
                <a16:creationId xmlns:a16="http://schemas.microsoft.com/office/drawing/2014/main" id="{1356B00C-B28E-180C-8C5C-8BEC87FA6E66}"/>
              </a:ext>
            </a:extLst>
          </p:cNvPr>
          <p:cNvSpPr/>
          <p:nvPr/>
        </p:nvSpPr>
        <p:spPr>
          <a:xfrm>
            <a:off x="7427311" y="1472636"/>
            <a:ext cx="1356593" cy="341179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88" kern="1200">
                <a:solidFill>
                  <a:schemeClr val="dk1"/>
                </a:solidFill>
                <a:latin typeface="+mn-lt"/>
                <a:ea typeface="+mn-ea"/>
                <a:cs typeface="Calibri"/>
              </a:rPr>
              <a:t>Arduino </a:t>
            </a:r>
            <a:endParaRPr lang="en-GB"/>
          </a:p>
        </p:txBody>
      </p:sp>
      <p:sp>
        <p:nvSpPr>
          <p:cNvPr id="5" name="Rectangle 4">
            <a:extLst>
              <a:ext uri="{FF2B5EF4-FFF2-40B4-BE49-F238E27FC236}">
                <a16:creationId xmlns:a16="http://schemas.microsoft.com/office/drawing/2014/main" id="{6DB0ED43-6A0E-0A4B-0212-3C82827E689F}"/>
              </a:ext>
            </a:extLst>
          </p:cNvPr>
          <p:cNvSpPr/>
          <p:nvPr/>
        </p:nvSpPr>
        <p:spPr>
          <a:xfrm>
            <a:off x="5099982" y="2605838"/>
            <a:ext cx="1047907" cy="38179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88" kern="1200">
                <a:solidFill>
                  <a:schemeClr val="dk1"/>
                </a:solidFill>
                <a:latin typeface="+mn-lt"/>
                <a:ea typeface="+mn-ea"/>
                <a:cs typeface="Calibri"/>
              </a:rPr>
              <a:t>TDS</a:t>
            </a:r>
            <a:endParaRPr lang="en-GB"/>
          </a:p>
        </p:txBody>
      </p:sp>
      <p:sp>
        <p:nvSpPr>
          <p:cNvPr id="6" name="Rectangle 5">
            <a:extLst>
              <a:ext uri="{FF2B5EF4-FFF2-40B4-BE49-F238E27FC236}">
                <a16:creationId xmlns:a16="http://schemas.microsoft.com/office/drawing/2014/main" id="{F41BAADF-F0AF-D2D8-D98D-A83E12B8B262}"/>
              </a:ext>
            </a:extLst>
          </p:cNvPr>
          <p:cNvSpPr/>
          <p:nvPr/>
        </p:nvSpPr>
        <p:spPr>
          <a:xfrm>
            <a:off x="5099982" y="4137082"/>
            <a:ext cx="1039785" cy="38991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88" kern="1200">
                <a:solidFill>
                  <a:schemeClr val="dk1"/>
                </a:solidFill>
                <a:latin typeface="+mn-lt"/>
                <a:ea typeface="+mn-ea"/>
                <a:cs typeface="Calibri"/>
              </a:rPr>
              <a:t>PH</a:t>
            </a:r>
            <a:endParaRPr lang="en-GB"/>
          </a:p>
        </p:txBody>
      </p:sp>
      <p:sp>
        <p:nvSpPr>
          <p:cNvPr id="7" name="Rectangle 6">
            <a:extLst>
              <a:ext uri="{FF2B5EF4-FFF2-40B4-BE49-F238E27FC236}">
                <a16:creationId xmlns:a16="http://schemas.microsoft.com/office/drawing/2014/main" id="{AF6B3934-D426-D7DD-4F5E-3F6B4ED0194E}"/>
              </a:ext>
            </a:extLst>
          </p:cNvPr>
          <p:cNvSpPr/>
          <p:nvPr/>
        </p:nvSpPr>
        <p:spPr>
          <a:xfrm>
            <a:off x="5099981" y="3458786"/>
            <a:ext cx="1039785" cy="38179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88" kern="1200">
                <a:solidFill>
                  <a:schemeClr val="dk1"/>
                </a:solidFill>
                <a:latin typeface="+mn-lt"/>
                <a:ea typeface="+mn-ea"/>
                <a:cs typeface="Calibri"/>
              </a:rPr>
              <a:t>Turbidity</a:t>
            </a:r>
            <a:endParaRPr lang="en-GB"/>
          </a:p>
        </p:txBody>
      </p:sp>
      <p:sp>
        <p:nvSpPr>
          <p:cNvPr id="8" name="Rectangle 7">
            <a:extLst>
              <a:ext uri="{FF2B5EF4-FFF2-40B4-BE49-F238E27FC236}">
                <a16:creationId xmlns:a16="http://schemas.microsoft.com/office/drawing/2014/main" id="{1A0A1BB2-E841-44C2-28DD-0D5E2267C689}"/>
              </a:ext>
            </a:extLst>
          </p:cNvPr>
          <p:cNvSpPr/>
          <p:nvPr/>
        </p:nvSpPr>
        <p:spPr>
          <a:xfrm>
            <a:off x="6804137" y="5186859"/>
            <a:ext cx="3101816" cy="279803"/>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88" kern="1200">
                <a:solidFill>
                  <a:schemeClr val="dk1"/>
                </a:solidFill>
                <a:latin typeface="+mn-lt"/>
                <a:ea typeface="+mn-ea"/>
                <a:cs typeface="Calibri"/>
              </a:rPr>
              <a:t>Power supply</a:t>
            </a:r>
            <a:endParaRPr lang="en-GB"/>
          </a:p>
        </p:txBody>
      </p:sp>
      <p:sp>
        <p:nvSpPr>
          <p:cNvPr id="9" name="Left Brace 8">
            <a:extLst>
              <a:ext uri="{FF2B5EF4-FFF2-40B4-BE49-F238E27FC236}">
                <a16:creationId xmlns:a16="http://schemas.microsoft.com/office/drawing/2014/main" id="{B0E47D0C-2A40-0D10-9C80-7BF21FF6EC2C}"/>
              </a:ext>
            </a:extLst>
          </p:cNvPr>
          <p:cNvSpPr/>
          <p:nvPr/>
        </p:nvSpPr>
        <p:spPr>
          <a:xfrm>
            <a:off x="4765572" y="1765268"/>
            <a:ext cx="447685" cy="29659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GB"/>
          </a:p>
        </p:txBody>
      </p:sp>
      <p:sp>
        <p:nvSpPr>
          <p:cNvPr id="10" name="TextBox 7">
            <a:extLst>
              <a:ext uri="{FF2B5EF4-FFF2-40B4-BE49-F238E27FC236}">
                <a16:creationId xmlns:a16="http://schemas.microsoft.com/office/drawing/2014/main" id="{2B2F45C2-BB6B-FF3C-DFCB-86A9FB176607}"/>
              </a:ext>
            </a:extLst>
          </p:cNvPr>
          <p:cNvSpPr txBox="1"/>
          <p:nvPr/>
        </p:nvSpPr>
        <p:spPr>
          <a:xfrm>
            <a:off x="3683361" y="3050532"/>
            <a:ext cx="1312495" cy="37670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03504">
              <a:spcAft>
                <a:spcPts val="600"/>
              </a:spcAft>
            </a:pPr>
            <a:r>
              <a:rPr lang="en-GB" sz="1848" b="1" kern="1200">
                <a:solidFill>
                  <a:schemeClr val="tx1"/>
                </a:solidFill>
                <a:latin typeface="+mn-lt"/>
                <a:ea typeface="+mn-ea"/>
                <a:cs typeface="Calibri"/>
              </a:rPr>
              <a:t>sensors</a:t>
            </a:r>
            <a:endParaRPr lang="en-GB" sz="2800" b="1"/>
          </a:p>
        </p:txBody>
      </p:sp>
      <p:sp>
        <p:nvSpPr>
          <p:cNvPr id="14" name="Arrow: Right 13">
            <a:extLst>
              <a:ext uri="{FF2B5EF4-FFF2-40B4-BE49-F238E27FC236}">
                <a16:creationId xmlns:a16="http://schemas.microsoft.com/office/drawing/2014/main" id="{ACEF830B-3823-40FD-F9C2-D0E3DEE65E27}"/>
              </a:ext>
            </a:extLst>
          </p:cNvPr>
          <p:cNvSpPr/>
          <p:nvPr/>
        </p:nvSpPr>
        <p:spPr>
          <a:xfrm>
            <a:off x="6156013" y="2565221"/>
            <a:ext cx="1299729" cy="38179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5" name="Arrow: Right 14">
            <a:extLst>
              <a:ext uri="{FF2B5EF4-FFF2-40B4-BE49-F238E27FC236}">
                <a16:creationId xmlns:a16="http://schemas.microsoft.com/office/drawing/2014/main" id="{22A89312-C9E4-F1CE-BF4C-9F9F9A20E7FD}"/>
              </a:ext>
            </a:extLst>
          </p:cNvPr>
          <p:cNvSpPr/>
          <p:nvPr/>
        </p:nvSpPr>
        <p:spPr>
          <a:xfrm>
            <a:off x="6147889" y="3458785"/>
            <a:ext cx="1299729" cy="38179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Arrow: Right 15">
            <a:extLst>
              <a:ext uri="{FF2B5EF4-FFF2-40B4-BE49-F238E27FC236}">
                <a16:creationId xmlns:a16="http://schemas.microsoft.com/office/drawing/2014/main" id="{BAA0ABC3-1FFA-AD78-17FA-133F73BA1AC4}"/>
              </a:ext>
            </a:extLst>
          </p:cNvPr>
          <p:cNvSpPr/>
          <p:nvPr/>
        </p:nvSpPr>
        <p:spPr>
          <a:xfrm>
            <a:off x="6156012" y="4141143"/>
            <a:ext cx="1299729" cy="381794"/>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21" name="Arrow: Up 20">
            <a:extLst>
              <a:ext uri="{FF2B5EF4-FFF2-40B4-BE49-F238E27FC236}">
                <a16:creationId xmlns:a16="http://schemas.microsoft.com/office/drawing/2014/main" id="{172560CA-DAD0-8C70-D691-FBDAF20F1345}"/>
              </a:ext>
            </a:extLst>
          </p:cNvPr>
          <p:cNvSpPr/>
          <p:nvPr/>
        </p:nvSpPr>
        <p:spPr>
          <a:xfrm>
            <a:off x="7947203" y="4851934"/>
            <a:ext cx="308686" cy="333056"/>
          </a:xfrm>
          <a:prstGeom prst="upArrow">
            <a:avLst/>
          </a:prstGeom>
        </p:spPr>
        <p:style>
          <a:lnRef idx="1">
            <a:schemeClr val="accent5"/>
          </a:lnRef>
          <a:fillRef idx="3">
            <a:schemeClr val="accent5"/>
          </a:fillRef>
          <a:effectRef idx="2">
            <a:schemeClr val="accent5"/>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22" name="Arrow: Right 21">
            <a:extLst>
              <a:ext uri="{FF2B5EF4-FFF2-40B4-BE49-F238E27FC236}">
                <a16:creationId xmlns:a16="http://schemas.microsoft.com/office/drawing/2014/main" id="{3EA637A2-A9F6-24C4-F106-9CDC63F13A15}"/>
              </a:ext>
            </a:extLst>
          </p:cNvPr>
          <p:cNvSpPr/>
          <p:nvPr/>
        </p:nvSpPr>
        <p:spPr>
          <a:xfrm>
            <a:off x="8787965" y="3074882"/>
            <a:ext cx="699658" cy="38594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23" name="Rectangle 22">
            <a:extLst>
              <a:ext uri="{FF2B5EF4-FFF2-40B4-BE49-F238E27FC236}">
                <a16:creationId xmlns:a16="http://schemas.microsoft.com/office/drawing/2014/main" id="{4191BD11-66AE-06CB-F912-1C8C4654B91C}"/>
              </a:ext>
            </a:extLst>
          </p:cNvPr>
          <p:cNvSpPr/>
          <p:nvPr/>
        </p:nvSpPr>
        <p:spPr>
          <a:xfrm>
            <a:off x="9503690" y="3049795"/>
            <a:ext cx="963600" cy="560688"/>
          </a:xfrm>
          <a:prstGeom prst="rect">
            <a:avLst/>
          </a:prstGeom>
        </p:spPr>
        <p:style>
          <a:lnRef idx="1">
            <a:schemeClr val="accent5"/>
          </a:lnRef>
          <a:fillRef idx="2">
            <a:schemeClr val="accent5"/>
          </a:fillRef>
          <a:effectRef idx="1">
            <a:schemeClr val="accent5"/>
          </a:effectRef>
          <a:fontRef idx="minor">
            <a:schemeClr val="dk1"/>
          </a:fontRef>
        </p:style>
        <p:txBody>
          <a:bodyPr lIns="91440" tIns="45720" rIns="91440" bIns="45720" rtlCol="0" anchor="ctr"/>
          <a:lstStyle>
            <a:defPPr>
              <a:defRPr lang="en-GB"/>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603504">
              <a:spcAft>
                <a:spcPts val="600"/>
              </a:spcAft>
            </a:pPr>
            <a:r>
              <a:rPr lang="en-GB" sz="1150">
                <a:cs typeface="Calibri"/>
              </a:rPr>
              <a:t>LCD</a:t>
            </a:r>
          </a:p>
        </p:txBody>
      </p:sp>
      <p:sp>
        <p:nvSpPr>
          <p:cNvPr id="26" name="Slide Number Placeholder 25">
            <a:extLst>
              <a:ext uri="{FF2B5EF4-FFF2-40B4-BE49-F238E27FC236}">
                <a16:creationId xmlns:a16="http://schemas.microsoft.com/office/drawing/2014/main" id="{886D82DB-C37C-C047-6C12-544E9A7B04BD}"/>
              </a:ext>
            </a:extLst>
          </p:cNvPr>
          <p:cNvSpPr>
            <a:spLocks noGrp="1"/>
          </p:cNvSpPr>
          <p:nvPr>
            <p:ph type="sldNum" sz="quarter" idx="12"/>
          </p:nvPr>
        </p:nvSpPr>
        <p:spPr/>
        <p:txBody>
          <a:bodyPr/>
          <a:lstStyle/>
          <a:p>
            <a:fld id="{330EA680-D336-4FF7-8B7A-9848BB0A1C32}" type="slidenum">
              <a:rPr lang="en-GB" smtClean="0"/>
              <a:t>10</a:t>
            </a:fld>
            <a:endParaRPr lang="en-GB"/>
          </a:p>
        </p:txBody>
      </p:sp>
    </p:spTree>
    <p:extLst>
      <p:ext uri="{BB962C8B-B14F-4D97-AF65-F5344CB8AC3E}">
        <p14:creationId xmlns:p14="http://schemas.microsoft.com/office/powerpoint/2010/main" val="115193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361C1-28E1-ACB3-D0FA-581EA84D2FB0}"/>
              </a:ext>
            </a:extLst>
          </p:cNvPr>
          <p:cNvSpPr>
            <a:spLocks noGrp="1"/>
          </p:cNvSpPr>
          <p:nvPr>
            <p:ph type="title"/>
          </p:nvPr>
        </p:nvSpPr>
        <p:spPr/>
        <p:txBody>
          <a:bodyPr/>
          <a:lstStyle/>
          <a:p>
            <a:r>
              <a:rPr lang="en-GB" b="1">
                <a:latin typeface="Times New Roman"/>
                <a:cs typeface="Calibri Light"/>
              </a:rPr>
              <a:t>Components</a:t>
            </a:r>
            <a:endParaRPr lang="en-GB" b="1">
              <a:latin typeface="Times New Roman"/>
              <a:cs typeface="Times New Roman"/>
            </a:endParaRPr>
          </a:p>
        </p:txBody>
      </p:sp>
      <p:sp>
        <p:nvSpPr>
          <p:cNvPr id="3" name="Content Placeholder 2">
            <a:extLst>
              <a:ext uri="{FF2B5EF4-FFF2-40B4-BE49-F238E27FC236}">
                <a16:creationId xmlns:a16="http://schemas.microsoft.com/office/drawing/2014/main" id="{646FBFB1-A068-83C5-A6B1-9CFBB8865F7D}"/>
              </a:ext>
            </a:extLst>
          </p:cNvPr>
          <p:cNvSpPr>
            <a:spLocks noGrp="1"/>
          </p:cNvSpPr>
          <p:nvPr>
            <p:ph idx="1"/>
          </p:nvPr>
        </p:nvSpPr>
        <p:spPr/>
        <p:txBody>
          <a:bodyPr vert="horz" lIns="91440" tIns="45720" rIns="91440" bIns="45720" rtlCol="0" anchor="t">
            <a:normAutofit/>
          </a:bodyPr>
          <a:lstStyle/>
          <a:p>
            <a:pPr algn="just"/>
            <a:r>
              <a:rPr lang="en-GB" sz="2200" b="1">
                <a:latin typeface="Times New Roman"/>
                <a:cs typeface="Times New Roman"/>
              </a:rPr>
              <a:t>PH sensor :</a:t>
            </a:r>
            <a:r>
              <a:rPr lang="en-GB" sz="2200">
                <a:latin typeface="Times New Roman"/>
                <a:cs typeface="Times New Roman"/>
              </a:rPr>
              <a:t> pH is the measure of the relative amount of free hydrogen and hydroxyl ions in the water. Water that has more free hydrogen ions is acidic, whereas water that has more free hydroxyl ions is basic.</a:t>
            </a:r>
            <a:endParaRPr lang="en-US"/>
          </a:p>
          <a:p>
            <a:pPr algn="just"/>
            <a:r>
              <a:rPr lang="en-GB" sz="2200">
                <a:latin typeface="Times New Roman"/>
                <a:cs typeface="Times New Roman"/>
              </a:rPr>
              <a:t>The range goes from 0 to 14, with 7 being neutral. pH of less than 7 indicates acidity. whereas pH of greater than 7 indicates a base</a:t>
            </a:r>
            <a:endParaRPr lang="en-US" sz="2200">
              <a:latin typeface="Times New Roman"/>
              <a:cs typeface="Times New Roman"/>
            </a:endParaRPr>
          </a:p>
          <a:p>
            <a:endParaRPr lang="en-GB" sz="2200">
              <a:cs typeface="Calibri"/>
            </a:endParaRPr>
          </a:p>
          <a:p>
            <a:endParaRPr lang="en-GB">
              <a:cs typeface="Calibri"/>
            </a:endParaRPr>
          </a:p>
        </p:txBody>
      </p:sp>
      <p:pic>
        <p:nvPicPr>
          <p:cNvPr id="4" name="Picture 4">
            <a:extLst>
              <a:ext uri="{FF2B5EF4-FFF2-40B4-BE49-F238E27FC236}">
                <a16:creationId xmlns:a16="http://schemas.microsoft.com/office/drawing/2014/main" id="{11514401-B31C-08D9-8D7C-112CADD9EA32}"/>
              </a:ext>
            </a:extLst>
          </p:cNvPr>
          <p:cNvPicPr>
            <a:picLocks noChangeAspect="1"/>
          </p:cNvPicPr>
          <p:nvPr/>
        </p:nvPicPr>
        <p:blipFill>
          <a:blip r:embed="rId2"/>
          <a:stretch>
            <a:fillRect/>
          </a:stretch>
        </p:blipFill>
        <p:spPr>
          <a:xfrm>
            <a:off x="8436077" y="3324976"/>
            <a:ext cx="2743200" cy="2862758"/>
          </a:xfrm>
          <a:prstGeom prst="rect">
            <a:avLst/>
          </a:prstGeom>
        </p:spPr>
      </p:pic>
      <p:sp>
        <p:nvSpPr>
          <p:cNvPr id="7" name="Slide Number Placeholder 6">
            <a:extLst>
              <a:ext uri="{FF2B5EF4-FFF2-40B4-BE49-F238E27FC236}">
                <a16:creationId xmlns:a16="http://schemas.microsoft.com/office/drawing/2014/main" id="{296E1914-E025-375F-502F-6E482604D047}"/>
              </a:ext>
            </a:extLst>
          </p:cNvPr>
          <p:cNvSpPr>
            <a:spLocks noGrp="1"/>
          </p:cNvSpPr>
          <p:nvPr>
            <p:ph type="sldNum" sz="quarter" idx="12"/>
          </p:nvPr>
        </p:nvSpPr>
        <p:spPr/>
        <p:txBody>
          <a:bodyPr/>
          <a:lstStyle/>
          <a:p>
            <a:fld id="{330EA680-D336-4FF7-8B7A-9848BB0A1C32}" type="slidenum">
              <a:rPr lang="en-GB" smtClean="0"/>
              <a:t>11</a:t>
            </a:fld>
            <a:endParaRPr lang="en-GB"/>
          </a:p>
        </p:txBody>
      </p:sp>
    </p:spTree>
    <p:extLst>
      <p:ext uri="{BB962C8B-B14F-4D97-AF65-F5344CB8AC3E}">
        <p14:creationId xmlns:p14="http://schemas.microsoft.com/office/powerpoint/2010/main" val="2763800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A9AC-A10E-495E-06F5-B002C063FC24}"/>
              </a:ext>
            </a:extLst>
          </p:cNvPr>
          <p:cNvSpPr>
            <a:spLocks noGrp="1"/>
          </p:cNvSpPr>
          <p:nvPr>
            <p:ph type="title"/>
          </p:nvPr>
        </p:nvSpPr>
        <p:spPr/>
        <p:txBody>
          <a:bodyPr/>
          <a:lstStyle/>
          <a:p>
            <a:r>
              <a:rPr lang="en-GB" b="1">
                <a:cs typeface="Calibri Light"/>
              </a:rPr>
              <a:t>TDS</a:t>
            </a:r>
            <a:endParaRPr lang="en-GB" b="1"/>
          </a:p>
        </p:txBody>
      </p:sp>
      <p:sp>
        <p:nvSpPr>
          <p:cNvPr id="6" name="Content Placeholder 5">
            <a:extLst>
              <a:ext uri="{FF2B5EF4-FFF2-40B4-BE49-F238E27FC236}">
                <a16:creationId xmlns:a16="http://schemas.microsoft.com/office/drawing/2014/main" id="{3AAE7C29-65BA-9792-1A24-9BC911449D93}"/>
              </a:ext>
            </a:extLst>
          </p:cNvPr>
          <p:cNvSpPr>
            <a:spLocks noGrp="1"/>
          </p:cNvSpPr>
          <p:nvPr>
            <p:ph idx="1"/>
          </p:nvPr>
        </p:nvSpPr>
        <p:spPr/>
        <p:txBody>
          <a:bodyPr vert="horz" lIns="91440" tIns="45720" rIns="91440" bIns="45720" rtlCol="0" anchor="t">
            <a:normAutofit/>
          </a:bodyPr>
          <a:lstStyle/>
          <a:p>
            <a:pPr algn="just"/>
            <a:r>
              <a:rPr lang="en-GB" sz="2200" b="1" dirty="0">
                <a:latin typeface="Times New Roman"/>
                <a:cs typeface="Times New Roman"/>
              </a:rPr>
              <a:t>TDS : </a:t>
            </a:r>
            <a:r>
              <a:rPr lang="en-GB" sz="2200" dirty="0">
                <a:latin typeface="Times New Roman"/>
                <a:cs typeface="Times New Roman"/>
              </a:rPr>
              <a:t>Total dissolved solids (TDS) are the amount of organic and inorganic materials, such as metals, minerals, salts, and ions, dissolved in a particular volume of water</a:t>
            </a:r>
            <a:endParaRPr lang="en-US" sz="2200" dirty="0">
              <a:latin typeface="Times New Roman"/>
              <a:cs typeface="Times New Roman"/>
            </a:endParaRPr>
          </a:p>
          <a:p>
            <a:pPr algn="just"/>
            <a:r>
              <a:rPr lang="en-GB" sz="2200" dirty="0">
                <a:latin typeface="Times New Roman"/>
                <a:cs typeface="Times New Roman"/>
              </a:rPr>
              <a:t>Total dissolved solids (TDS) is measured with the unit parts per million (ppm) or milligrams per litre (mg/L)</a:t>
            </a:r>
            <a:endParaRPr lang="en-US" sz="2200" dirty="0">
              <a:latin typeface="Times New Roman"/>
              <a:cs typeface="Times New Roman"/>
            </a:endParaRPr>
          </a:p>
          <a:p>
            <a:endParaRPr lang="en-GB" sz="2200">
              <a:cs typeface="Calibri"/>
            </a:endParaRPr>
          </a:p>
          <a:p>
            <a:endParaRPr lang="en-US">
              <a:cs typeface="Calibri"/>
            </a:endParaRPr>
          </a:p>
        </p:txBody>
      </p:sp>
      <p:pic>
        <p:nvPicPr>
          <p:cNvPr id="7" name="Picture 7" descr="A picture containing connector&#10;&#10;Description automatically generated">
            <a:extLst>
              <a:ext uri="{FF2B5EF4-FFF2-40B4-BE49-F238E27FC236}">
                <a16:creationId xmlns:a16="http://schemas.microsoft.com/office/drawing/2014/main" id="{655EC854-273C-45AD-8546-02919857502D}"/>
              </a:ext>
            </a:extLst>
          </p:cNvPr>
          <p:cNvPicPr>
            <a:picLocks noChangeAspect="1"/>
          </p:cNvPicPr>
          <p:nvPr/>
        </p:nvPicPr>
        <p:blipFill>
          <a:blip r:embed="rId2"/>
          <a:stretch>
            <a:fillRect/>
          </a:stretch>
        </p:blipFill>
        <p:spPr>
          <a:xfrm>
            <a:off x="8374626" y="3189782"/>
            <a:ext cx="2743200" cy="2862758"/>
          </a:xfrm>
          <a:prstGeom prst="rect">
            <a:avLst/>
          </a:prstGeom>
        </p:spPr>
      </p:pic>
      <p:sp>
        <p:nvSpPr>
          <p:cNvPr id="9" name="Slide Number Placeholder 8">
            <a:extLst>
              <a:ext uri="{FF2B5EF4-FFF2-40B4-BE49-F238E27FC236}">
                <a16:creationId xmlns:a16="http://schemas.microsoft.com/office/drawing/2014/main" id="{55BF51A4-C831-B3D2-7228-D52A5B1FB108}"/>
              </a:ext>
            </a:extLst>
          </p:cNvPr>
          <p:cNvSpPr>
            <a:spLocks noGrp="1"/>
          </p:cNvSpPr>
          <p:nvPr>
            <p:ph type="sldNum" sz="quarter" idx="12"/>
          </p:nvPr>
        </p:nvSpPr>
        <p:spPr/>
        <p:txBody>
          <a:bodyPr/>
          <a:lstStyle/>
          <a:p>
            <a:fld id="{330EA680-D336-4FF7-8B7A-9848BB0A1C32}" type="slidenum">
              <a:rPr lang="en-GB" smtClean="0"/>
              <a:t>12</a:t>
            </a:fld>
            <a:endParaRPr lang="en-GB"/>
          </a:p>
        </p:txBody>
      </p:sp>
    </p:spTree>
    <p:extLst>
      <p:ext uri="{BB962C8B-B14F-4D97-AF65-F5344CB8AC3E}">
        <p14:creationId xmlns:p14="http://schemas.microsoft.com/office/powerpoint/2010/main" val="1707065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E6474-9521-243A-D1E4-6D934215C29B}"/>
              </a:ext>
            </a:extLst>
          </p:cNvPr>
          <p:cNvSpPr>
            <a:spLocks noGrp="1"/>
          </p:cNvSpPr>
          <p:nvPr>
            <p:ph type="title"/>
          </p:nvPr>
        </p:nvSpPr>
        <p:spPr/>
        <p:txBody>
          <a:bodyPr/>
          <a:lstStyle/>
          <a:p>
            <a:r>
              <a:rPr lang="en-GB" b="1">
                <a:cs typeface="Calibri Light"/>
              </a:rPr>
              <a:t>Turbidity</a:t>
            </a:r>
            <a:endParaRPr lang="en-GB" b="1"/>
          </a:p>
        </p:txBody>
      </p:sp>
      <p:sp>
        <p:nvSpPr>
          <p:cNvPr id="3" name="Content Placeholder 2">
            <a:extLst>
              <a:ext uri="{FF2B5EF4-FFF2-40B4-BE49-F238E27FC236}">
                <a16:creationId xmlns:a16="http://schemas.microsoft.com/office/drawing/2014/main" id="{AF82C6C8-AA2E-2E19-A024-1C2DD8B9F1F2}"/>
              </a:ext>
            </a:extLst>
          </p:cNvPr>
          <p:cNvSpPr>
            <a:spLocks noGrp="1"/>
          </p:cNvSpPr>
          <p:nvPr>
            <p:ph idx="1"/>
          </p:nvPr>
        </p:nvSpPr>
        <p:spPr/>
        <p:txBody>
          <a:bodyPr vert="horz" lIns="91440" tIns="45720" rIns="91440" bIns="45720" rtlCol="0" anchor="t">
            <a:normAutofit/>
          </a:bodyPr>
          <a:lstStyle/>
          <a:p>
            <a:pPr algn="just"/>
            <a:r>
              <a:rPr lang="en-GB" sz="2200" b="1" dirty="0">
                <a:latin typeface="Times New Roman"/>
                <a:cs typeface="Times New Roman"/>
              </a:rPr>
              <a:t>Turbidity: </a:t>
            </a:r>
            <a:r>
              <a:rPr lang="en-GB" sz="2200" dirty="0">
                <a:latin typeface="Times New Roman"/>
                <a:cs typeface="Times New Roman"/>
              </a:rPr>
              <a:t>Turbidity is a measure of the degree to which the water loses its transparency due to the presence of suspended particulates. The more total suspended solids in the water, the murkier it seems and higher the turbidity.</a:t>
            </a:r>
            <a:endParaRPr lang="en-US" dirty="0"/>
          </a:p>
          <a:p>
            <a:pPr algn="just"/>
            <a:r>
              <a:rPr lang="en-GB" sz="2200" dirty="0">
                <a:latin typeface="Times New Roman"/>
                <a:cs typeface="Times New Roman"/>
              </a:rPr>
              <a:t>The materials that causes water to be turbid include clay, silt, very tiny inorganic and organic matter, algae, dissolved coloured organic compounds</a:t>
            </a:r>
            <a:endParaRPr lang="en-US" dirty="0"/>
          </a:p>
          <a:p>
            <a:pPr algn="just"/>
            <a:r>
              <a:rPr lang="en-GB" sz="2000" dirty="0">
                <a:latin typeface="Times New Roman"/>
                <a:cs typeface="Times New Roman"/>
              </a:rPr>
              <a:t>Units: </a:t>
            </a:r>
            <a:r>
              <a:rPr lang="en-GB" sz="2000" dirty="0">
                <a:latin typeface="Times New Roman"/>
                <a:ea typeface="+mn-lt"/>
                <a:cs typeface="+mn-lt"/>
              </a:rPr>
              <a:t>Nephelometric Turbidity Unit</a:t>
            </a:r>
          </a:p>
          <a:p>
            <a:pPr marL="0" indent="0">
              <a:buNone/>
            </a:pPr>
            <a:endParaRPr lang="en-GB">
              <a:cs typeface="Calibri"/>
            </a:endParaRPr>
          </a:p>
        </p:txBody>
      </p:sp>
      <p:pic>
        <p:nvPicPr>
          <p:cNvPr id="4" name="Picture 4">
            <a:extLst>
              <a:ext uri="{FF2B5EF4-FFF2-40B4-BE49-F238E27FC236}">
                <a16:creationId xmlns:a16="http://schemas.microsoft.com/office/drawing/2014/main" id="{D996581A-B8E6-C250-FFBD-8ECCE322E362}"/>
              </a:ext>
            </a:extLst>
          </p:cNvPr>
          <p:cNvPicPr>
            <a:picLocks noChangeAspect="1"/>
          </p:cNvPicPr>
          <p:nvPr/>
        </p:nvPicPr>
        <p:blipFill>
          <a:blip r:embed="rId2"/>
          <a:stretch>
            <a:fillRect/>
          </a:stretch>
        </p:blipFill>
        <p:spPr>
          <a:xfrm>
            <a:off x="8214852" y="3693685"/>
            <a:ext cx="2743200" cy="2862758"/>
          </a:xfrm>
          <a:prstGeom prst="rect">
            <a:avLst/>
          </a:prstGeom>
        </p:spPr>
      </p:pic>
      <p:sp>
        <p:nvSpPr>
          <p:cNvPr id="7" name="Slide Number Placeholder 6">
            <a:extLst>
              <a:ext uri="{FF2B5EF4-FFF2-40B4-BE49-F238E27FC236}">
                <a16:creationId xmlns:a16="http://schemas.microsoft.com/office/drawing/2014/main" id="{418098C6-4D35-0B86-88BD-63E4A552F552}"/>
              </a:ext>
            </a:extLst>
          </p:cNvPr>
          <p:cNvSpPr>
            <a:spLocks noGrp="1"/>
          </p:cNvSpPr>
          <p:nvPr>
            <p:ph type="sldNum" sz="quarter" idx="12"/>
          </p:nvPr>
        </p:nvSpPr>
        <p:spPr/>
        <p:txBody>
          <a:bodyPr/>
          <a:lstStyle/>
          <a:p>
            <a:fld id="{330EA680-D336-4FF7-8B7A-9848BB0A1C32}" type="slidenum">
              <a:rPr lang="en-GB" smtClean="0"/>
              <a:t>13</a:t>
            </a:fld>
            <a:endParaRPr lang="en-GB"/>
          </a:p>
        </p:txBody>
      </p:sp>
    </p:spTree>
    <p:extLst>
      <p:ext uri="{BB962C8B-B14F-4D97-AF65-F5344CB8AC3E}">
        <p14:creationId xmlns:p14="http://schemas.microsoft.com/office/powerpoint/2010/main" val="2543332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32E67-FAFA-5EC3-FEFE-39717E200E0A}"/>
              </a:ext>
            </a:extLst>
          </p:cNvPr>
          <p:cNvSpPr>
            <a:spLocks noGrp="1"/>
          </p:cNvSpPr>
          <p:nvPr>
            <p:ph type="title"/>
          </p:nvPr>
        </p:nvSpPr>
        <p:spPr/>
        <p:txBody>
          <a:bodyPr>
            <a:normAutofit/>
          </a:bodyPr>
          <a:lstStyle/>
          <a:p>
            <a:r>
              <a:rPr lang="en-GB" b="1">
                <a:latin typeface="Times New Roman"/>
                <a:cs typeface="Times New Roman"/>
              </a:rPr>
              <a:t>Arduino UNO</a:t>
            </a:r>
            <a:endParaRPr lang="en-US"/>
          </a:p>
        </p:txBody>
      </p:sp>
      <p:sp>
        <p:nvSpPr>
          <p:cNvPr id="3" name="Content Placeholder 2">
            <a:extLst>
              <a:ext uri="{FF2B5EF4-FFF2-40B4-BE49-F238E27FC236}">
                <a16:creationId xmlns:a16="http://schemas.microsoft.com/office/drawing/2014/main" id="{80773E52-55E7-B473-818A-CB69C0D29979}"/>
              </a:ext>
            </a:extLst>
          </p:cNvPr>
          <p:cNvSpPr>
            <a:spLocks noGrp="1"/>
          </p:cNvSpPr>
          <p:nvPr>
            <p:ph idx="1"/>
          </p:nvPr>
        </p:nvSpPr>
        <p:spPr/>
        <p:txBody>
          <a:bodyPr vert="horz" lIns="91440" tIns="45720" rIns="91440" bIns="45720" rtlCol="0" anchor="t">
            <a:normAutofit/>
          </a:bodyPr>
          <a:lstStyle/>
          <a:p>
            <a:pPr algn="just"/>
            <a:r>
              <a:rPr lang="en-GB" sz="2200">
                <a:latin typeface="Times New Roman"/>
                <a:cs typeface="Times New Roman"/>
              </a:rPr>
              <a:t>It is used to interface with various sensors installed in the wastewater treatment plant and collect data on water quality, temperature. The collected data can be transmitted to the cloud server for processing and analysis</a:t>
            </a:r>
            <a:endParaRPr lang="en-GB">
              <a:cs typeface="Calibri" panose="020F0502020204030204"/>
            </a:endParaRPr>
          </a:p>
        </p:txBody>
      </p:sp>
      <p:pic>
        <p:nvPicPr>
          <p:cNvPr id="4" name="Picture 4" descr="A picture containing electronics&#10;&#10;Description automatically generated">
            <a:extLst>
              <a:ext uri="{FF2B5EF4-FFF2-40B4-BE49-F238E27FC236}">
                <a16:creationId xmlns:a16="http://schemas.microsoft.com/office/drawing/2014/main" id="{95696374-5F14-C189-5AD2-1D086464CF82}"/>
              </a:ext>
            </a:extLst>
          </p:cNvPr>
          <p:cNvPicPr>
            <a:picLocks noChangeAspect="1"/>
          </p:cNvPicPr>
          <p:nvPr/>
        </p:nvPicPr>
        <p:blipFill>
          <a:blip r:embed="rId2"/>
          <a:stretch>
            <a:fillRect/>
          </a:stretch>
        </p:blipFill>
        <p:spPr>
          <a:xfrm>
            <a:off x="8104239" y="3189782"/>
            <a:ext cx="2743200" cy="2862758"/>
          </a:xfrm>
          <a:prstGeom prst="rect">
            <a:avLst/>
          </a:prstGeom>
        </p:spPr>
      </p:pic>
      <p:sp>
        <p:nvSpPr>
          <p:cNvPr id="7" name="Slide Number Placeholder 6">
            <a:extLst>
              <a:ext uri="{FF2B5EF4-FFF2-40B4-BE49-F238E27FC236}">
                <a16:creationId xmlns:a16="http://schemas.microsoft.com/office/drawing/2014/main" id="{63B0D3BB-9ADE-ED0F-7193-A9526FAA4F50}"/>
              </a:ext>
            </a:extLst>
          </p:cNvPr>
          <p:cNvSpPr>
            <a:spLocks noGrp="1"/>
          </p:cNvSpPr>
          <p:nvPr>
            <p:ph type="sldNum" sz="quarter" idx="12"/>
          </p:nvPr>
        </p:nvSpPr>
        <p:spPr/>
        <p:txBody>
          <a:bodyPr/>
          <a:lstStyle/>
          <a:p>
            <a:fld id="{330EA680-D336-4FF7-8B7A-9848BB0A1C32}" type="slidenum">
              <a:rPr lang="en-GB" smtClean="0"/>
              <a:t>14</a:t>
            </a:fld>
            <a:endParaRPr lang="en-GB"/>
          </a:p>
        </p:txBody>
      </p:sp>
    </p:spTree>
    <p:extLst>
      <p:ext uri="{BB962C8B-B14F-4D97-AF65-F5344CB8AC3E}">
        <p14:creationId xmlns:p14="http://schemas.microsoft.com/office/powerpoint/2010/main" val="1060512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84D25-B2EC-99EE-D65D-0AFF19606650}"/>
              </a:ext>
            </a:extLst>
          </p:cNvPr>
          <p:cNvSpPr>
            <a:spLocks noGrp="1"/>
          </p:cNvSpPr>
          <p:nvPr>
            <p:ph type="title"/>
          </p:nvPr>
        </p:nvSpPr>
        <p:spPr/>
        <p:txBody>
          <a:bodyPr/>
          <a:lstStyle/>
          <a:p>
            <a:r>
              <a:rPr lang="en-GB" b="1">
                <a:latin typeface="Times New Roman"/>
                <a:cs typeface="Calibri Light"/>
              </a:rPr>
              <a:t>LCD</a:t>
            </a:r>
            <a:endParaRPr lang="en-GB" b="1">
              <a:latin typeface="Times New Roman"/>
            </a:endParaRPr>
          </a:p>
        </p:txBody>
      </p:sp>
      <p:sp>
        <p:nvSpPr>
          <p:cNvPr id="3" name="Content Placeholder 2">
            <a:extLst>
              <a:ext uri="{FF2B5EF4-FFF2-40B4-BE49-F238E27FC236}">
                <a16:creationId xmlns:a16="http://schemas.microsoft.com/office/drawing/2014/main" id="{CB890E7C-4CD4-5352-08CE-B7079CEAA9A2}"/>
              </a:ext>
            </a:extLst>
          </p:cNvPr>
          <p:cNvSpPr>
            <a:spLocks noGrp="1"/>
          </p:cNvSpPr>
          <p:nvPr>
            <p:ph idx="1"/>
          </p:nvPr>
        </p:nvSpPr>
        <p:spPr>
          <a:xfrm>
            <a:off x="494071" y="1247980"/>
            <a:ext cx="10515600" cy="4351338"/>
          </a:xfrm>
        </p:spPr>
        <p:txBody>
          <a:bodyPr vert="horz" lIns="91440" tIns="45720" rIns="91440" bIns="45720" rtlCol="0" anchor="t">
            <a:normAutofit/>
          </a:bodyPr>
          <a:lstStyle/>
          <a:p>
            <a:pPr marL="0" indent="0" algn="ctr">
              <a:buNone/>
            </a:pPr>
            <a:endParaRPr lang="en-GB">
              <a:cs typeface="Calibri" panose="020F0502020204030204"/>
            </a:endParaRPr>
          </a:p>
          <a:p>
            <a:pPr algn="just"/>
            <a:r>
              <a:rPr lang="en-US" sz="2000">
                <a:latin typeface="Times New Roman"/>
                <a:ea typeface="+mn-lt"/>
                <a:cs typeface="+mn-lt"/>
              </a:rPr>
              <a:t>A liquid crystal display (LCD) with an Arduino to provide a user interface. Liquid crystal displays (LCDs) are a commonly used to display data in devices such as calculators, microwave ovens, and many other electronic devices</a:t>
            </a:r>
            <a:endParaRPr lang="en-GB" sz="2000">
              <a:latin typeface="Times New Roman"/>
              <a:cs typeface="Times New Roman"/>
            </a:endParaRPr>
          </a:p>
          <a:p>
            <a:pPr marL="0" indent="0">
              <a:buNone/>
            </a:pPr>
            <a:endParaRPr lang="en-GB">
              <a:cs typeface="Calibri"/>
            </a:endParaRPr>
          </a:p>
        </p:txBody>
      </p:sp>
      <p:pic>
        <p:nvPicPr>
          <p:cNvPr id="4" name="Picture 4" descr="A picture containing text, electronics, circuit&#10;&#10;Description automatically generated">
            <a:extLst>
              <a:ext uri="{FF2B5EF4-FFF2-40B4-BE49-F238E27FC236}">
                <a16:creationId xmlns:a16="http://schemas.microsoft.com/office/drawing/2014/main" id="{80BBF28E-F580-63BB-DF80-89383A660633}"/>
              </a:ext>
            </a:extLst>
          </p:cNvPr>
          <p:cNvPicPr>
            <a:picLocks noChangeAspect="1"/>
          </p:cNvPicPr>
          <p:nvPr/>
        </p:nvPicPr>
        <p:blipFill>
          <a:blip r:embed="rId2"/>
          <a:stretch>
            <a:fillRect/>
          </a:stretch>
        </p:blipFill>
        <p:spPr>
          <a:xfrm>
            <a:off x="8005916" y="3495368"/>
            <a:ext cx="2743200" cy="2743200"/>
          </a:xfrm>
          <a:prstGeom prst="rect">
            <a:avLst/>
          </a:prstGeom>
        </p:spPr>
      </p:pic>
      <p:sp>
        <p:nvSpPr>
          <p:cNvPr id="7" name="Slide Number Placeholder 6">
            <a:extLst>
              <a:ext uri="{FF2B5EF4-FFF2-40B4-BE49-F238E27FC236}">
                <a16:creationId xmlns:a16="http://schemas.microsoft.com/office/drawing/2014/main" id="{42AC2032-EBBA-39F1-E47F-786CAB6BA6F4}"/>
              </a:ext>
            </a:extLst>
          </p:cNvPr>
          <p:cNvSpPr>
            <a:spLocks noGrp="1"/>
          </p:cNvSpPr>
          <p:nvPr>
            <p:ph type="sldNum" sz="quarter" idx="12"/>
          </p:nvPr>
        </p:nvSpPr>
        <p:spPr/>
        <p:txBody>
          <a:bodyPr/>
          <a:lstStyle/>
          <a:p>
            <a:fld id="{330EA680-D336-4FF7-8B7A-9848BB0A1C32}" type="slidenum">
              <a:rPr lang="en-GB" smtClean="0"/>
              <a:t>15</a:t>
            </a:fld>
            <a:endParaRPr lang="en-GB"/>
          </a:p>
        </p:txBody>
      </p:sp>
    </p:spTree>
    <p:extLst>
      <p:ext uri="{BB962C8B-B14F-4D97-AF65-F5344CB8AC3E}">
        <p14:creationId xmlns:p14="http://schemas.microsoft.com/office/powerpoint/2010/main" val="1881700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61FA0-A10A-7023-225F-E22EB950C7E1}"/>
              </a:ext>
            </a:extLst>
          </p:cNvPr>
          <p:cNvSpPr>
            <a:spLocks noGrp="1"/>
          </p:cNvSpPr>
          <p:nvPr>
            <p:ph type="title"/>
          </p:nvPr>
        </p:nvSpPr>
        <p:spPr/>
        <p:txBody>
          <a:bodyPr/>
          <a:lstStyle/>
          <a:p>
            <a:r>
              <a:rPr lang="en-GB" b="1">
                <a:latin typeface="Times New Roman"/>
                <a:cs typeface="Calibri Light"/>
              </a:rPr>
              <a:t>Reference values </a:t>
            </a:r>
          </a:p>
        </p:txBody>
      </p:sp>
      <p:sp>
        <p:nvSpPr>
          <p:cNvPr id="5" name="Slide Number Placeholder 4">
            <a:extLst>
              <a:ext uri="{FF2B5EF4-FFF2-40B4-BE49-F238E27FC236}">
                <a16:creationId xmlns:a16="http://schemas.microsoft.com/office/drawing/2014/main" id="{2B7FA2DE-8266-3D28-82B0-4D39A9AEF0DD}"/>
              </a:ext>
            </a:extLst>
          </p:cNvPr>
          <p:cNvSpPr>
            <a:spLocks noGrp="1"/>
          </p:cNvSpPr>
          <p:nvPr>
            <p:ph type="sldNum" sz="quarter" idx="12"/>
          </p:nvPr>
        </p:nvSpPr>
        <p:spPr/>
        <p:txBody>
          <a:bodyPr/>
          <a:lstStyle/>
          <a:p>
            <a:fld id="{330EA680-D336-4FF7-8B7A-9848BB0A1C32}" type="slidenum">
              <a:rPr lang="en-GB" smtClean="0"/>
              <a:t>16</a:t>
            </a:fld>
            <a:endParaRPr lang="en-GB"/>
          </a:p>
        </p:txBody>
      </p:sp>
      <p:graphicFrame>
        <p:nvGraphicFramePr>
          <p:cNvPr id="8" name="Table 8">
            <a:extLst>
              <a:ext uri="{FF2B5EF4-FFF2-40B4-BE49-F238E27FC236}">
                <a16:creationId xmlns:a16="http://schemas.microsoft.com/office/drawing/2014/main" id="{2C46CE72-D014-D1ED-4CC3-927045445A75}"/>
              </a:ext>
            </a:extLst>
          </p:cNvPr>
          <p:cNvGraphicFramePr>
            <a:graphicFrameLocks noGrp="1"/>
          </p:cNvGraphicFramePr>
          <p:nvPr>
            <p:ph idx="1"/>
            <p:extLst>
              <p:ext uri="{D42A27DB-BD31-4B8C-83A1-F6EECF244321}">
                <p14:modId xmlns:p14="http://schemas.microsoft.com/office/powerpoint/2010/main" val="4204168529"/>
              </p:ext>
            </p:extLst>
          </p:nvPr>
        </p:nvGraphicFramePr>
        <p:xfrm>
          <a:off x="838200" y="1825625"/>
          <a:ext cx="10515600" cy="1483360"/>
        </p:xfrm>
        <a:graphic>
          <a:graphicData uri="http://schemas.openxmlformats.org/drawingml/2006/table">
            <a:tbl>
              <a:tblPr firstRow="1" bandRow="1">
                <a:tableStyleId>{BDBED569-4797-4DF1-A0F4-6AAB3CD982D8}</a:tableStyleId>
              </a:tblPr>
              <a:tblGrid>
                <a:gridCol w="2628900">
                  <a:extLst>
                    <a:ext uri="{9D8B030D-6E8A-4147-A177-3AD203B41FA5}">
                      <a16:colId xmlns:a16="http://schemas.microsoft.com/office/drawing/2014/main" val="1976784728"/>
                    </a:ext>
                  </a:extLst>
                </a:gridCol>
                <a:gridCol w="2628900">
                  <a:extLst>
                    <a:ext uri="{9D8B030D-6E8A-4147-A177-3AD203B41FA5}">
                      <a16:colId xmlns:a16="http://schemas.microsoft.com/office/drawing/2014/main" val="1965436169"/>
                    </a:ext>
                  </a:extLst>
                </a:gridCol>
                <a:gridCol w="2628900">
                  <a:extLst>
                    <a:ext uri="{9D8B030D-6E8A-4147-A177-3AD203B41FA5}">
                      <a16:colId xmlns:a16="http://schemas.microsoft.com/office/drawing/2014/main" val="1947983970"/>
                    </a:ext>
                  </a:extLst>
                </a:gridCol>
                <a:gridCol w="2628900">
                  <a:extLst>
                    <a:ext uri="{9D8B030D-6E8A-4147-A177-3AD203B41FA5}">
                      <a16:colId xmlns:a16="http://schemas.microsoft.com/office/drawing/2014/main" val="1050290097"/>
                    </a:ext>
                  </a:extLst>
                </a:gridCol>
              </a:tblGrid>
              <a:tr h="370840">
                <a:tc>
                  <a:txBody>
                    <a:bodyPr/>
                    <a:lstStyle/>
                    <a:p>
                      <a:endParaRPr lang="en-GB"/>
                    </a:p>
                  </a:txBody>
                  <a:tcPr/>
                </a:tc>
                <a:tc>
                  <a:txBody>
                    <a:bodyPr/>
                    <a:lstStyle/>
                    <a:p>
                      <a:r>
                        <a:rPr lang="en-GB" dirty="0"/>
                        <a:t>Drinking water</a:t>
                      </a:r>
                    </a:p>
                  </a:txBody>
                  <a:tcPr/>
                </a:tc>
                <a:tc>
                  <a:txBody>
                    <a:bodyPr/>
                    <a:lstStyle/>
                    <a:p>
                      <a:pPr lvl="0">
                        <a:buNone/>
                      </a:pPr>
                      <a:r>
                        <a:rPr lang="en-GB" sz="1800" b="1" i="0" u="none" strike="noStrike" noProof="0" dirty="0">
                          <a:latin typeface="Calibri"/>
                        </a:rPr>
                        <a:t>Gardening</a:t>
                      </a:r>
                      <a:endParaRPr lang="en-US" b="1" dirty="0"/>
                    </a:p>
                  </a:txBody>
                  <a:tcPr/>
                </a:tc>
                <a:tc>
                  <a:txBody>
                    <a:bodyPr/>
                    <a:lstStyle/>
                    <a:p>
                      <a:r>
                        <a:rPr lang="en-GB" dirty="0"/>
                        <a:t>Rest rooms</a:t>
                      </a:r>
                    </a:p>
                  </a:txBody>
                  <a:tcPr/>
                </a:tc>
                <a:extLst>
                  <a:ext uri="{0D108BD9-81ED-4DB2-BD59-A6C34878D82A}">
                    <a16:rowId xmlns:a16="http://schemas.microsoft.com/office/drawing/2014/main" val="558708783"/>
                  </a:ext>
                </a:extLst>
              </a:tr>
              <a:tr h="370840">
                <a:tc>
                  <a:txBody>
                    <a:bodyPr/>
                    <a:lstStyle/>
                    <a:p>
                      <a:r>
                        <a:rPr lang="en-GB" dirty="0"/>
                        <a:t>TDS</a:t>
                      </a:r>
                    </a:p>
                  </a:txBody>
                  <a:tcPr/>
                </a:tc>
                <a:tc>
                  <a:txBody>
                    <a:bodyPr/>
                    <a:lstStyle/>
                    <a:p>
                      <a:pPr lvl="0">
                        <a:buNone/>
                      </a:pPr>
                      <a:r>
                        <a:rPr lang="en-GB" sz="1800" b="0" i="0" u="none" strike="noStrike" noProof="0" dirty="0">
                          <a:latin typeface="Calibri"/>
                        </a:rPr>
                        <a:t>Below 500 ppm</a:t>
                      </a:r>
                      <a:endParaRPr lang="en-US" dirty="0"/>
                    </a:p>
                  </a:txBody>
                  <a:tcPr/>
                </a:tc>
                <a:tc>
                  <a:txBody>
                    <a:bodyPr/>
                    <a:lstStyle/>
                    <a:p>
                      <a:pPr lvl="0">
                        <a:buNone/>
                      </a:pPr>
                      <a:r>
                        <a:rPr lang="en-GB" sz="1800" b="0" i="0" u="none" strike="noStrike" noProof="0" dirty="0">
                          <a:latin typeface="Calibri"/>
                        </a:rPr>
                        <a:t>500 to 1500 ppm</a:t>
                      </a:r>
                      <a:endParaRPr lang="en-US" dirty="0"/>
                    </a:p>
                  </a:txBody>
                  <a:tcPr/>
                </a:tc>
                <a:tc>
                  <a:txBody>
                    <a:bodyPr/>
                    <a:lstStyle/>
                    <a:p>
                      <a:r>
                        <a:rPr lang="en-GB" dirty="0"/>
                        <a:t>1000 ppm</a:t>
                      </a:r>
                    </a:p>
                  </a:txBody>
                  <a:tcPr/>
                </a:tc>
                <a:extLst>
                  <a:ext uri="{0D108BD9-81ED-4DB2-BD59-A6C34878D82A}">
                    <a16:rowId xmlns:a16="http://schemas.microsoft.com/office/drawing/2014/main" val="408687371"/>
                  </a:ext>
                </a:extLst>
              </a:tr>
              <a:tr h="370840">
                <a:tc>
                  <a:txBody>
                    <a:bodyPr/>
                    <a:lstStyle/>
                    <a:p>
                      <a:r>
                        <a:rPr lang="en-GB" dirty="0"/>
                        <a:t>PH</a:t>
                      </a:r>
                    </a:p>
                  </a:txBody>
                  <a:tcPr/>
                </a:tc>
                <a:tc>
                  <a:txBody>
                    <a:bodyPr/>
                    <a:lstStyle/>
                    <a:p>
                      <a:pPr lvl="0">
                        <a:buNone/>
                      </a:pPr>
                      <a:r>
                        <a:rPr lang="en-GB" sz="1800" b="0" i="0" u="none" strike="noStrike" noProof="0" dirty="0">
                          <a:latin typeface="Calibri"/>
                        </a:rPr>
                        <a:t>6.5 to 8.5</a:t>
                      </a:r>
                      <a:endParaRPr lang="en-US" dirty="0"/>
                    </a:p>
                  </a:txBody>
                  <a:tcPr/>
                </a:tc>
                <a:tc>
                  <a:txBody>
                    <a:bodyPr/>
                    <a:lstStyle/>
                    <a:p>
                      <a:pPr lvl="0">
                        <a:buNone/>
                      </a:pPr>
                      <a:r>
                        <a:rPr lang="en-GB" sz="1800" b="0" i="0" u="none" strike="noStrike" noProof="0" dirty="0">
                          <a:latin typeface="Calibri"/>
                        </a:rPr>
                        <a:t>6.0 to 7.5</a:t>
                      </a:r>
                      <a:endParaRPr lang="en-US" dirty="0"/>
                    </a:p>
                  </a:txBody>
                  <a:tcPr/>
                </a:tc>
                <a:tc>
                  <a:txBody>
                    <a:bodyPr/>
                    <a:lstStyle/>
                    <a:p>
                      <a:pPr lvl="0">
                        <a:buNone/>
                      </a:pPr>
                      <a:r>
                        <a:rPr lang="en-GB" sz="1800" b="0" i="0" u="none" strike="noStrike" noProof="0" dirty="0">
                          <a:latin typeface="Calibri"/>
                        </a:rPr>
                        <a:t>6.5 to 9.0</a:t>
                      </a:r>
                      <a:endParaRPr lang="en-US" dirty="0"/>
                    </a:p>
                  </a:txBody>
                  <a:tcPr/>
                </a:tc>
                <a:extLst>
                  <a:ext uri="{0D108BD9-81ED-4DB2-BD59-A6C34878D82A}">
                    <a16:rowId xmlns:a16="http://schemas.microsoft.com/office/drawing/2014/main" val="2282437645"/>
                  </a:ext>
                </a:extLst>
              </a:tr>
              <a:tr h="370840">
                <a:tc>
                  <a:txBody>
                    <a:bodyPr/>
                    <a:lstStyle/>
                    <a:p>
                      <a:r>
                        <a:rPr lang="en-GB" dirty="0"/>
                        <a:t>Turbidity (NTU)</a:t>
                      </a:r>
                    </a:p>
                  </a:txBody>
                  <a:tcPr/>
                </a:tc>
                <a:tc>
                  <a:txBody>
                    <a:bodyPr/>
                    <a:lstStyle/>
                    <a:p>
                      <a:pPr lvl="0">
                        <a:buNone/>
                      </a:pPr>
                      <a:r>
                        <a:rPr lang="en-GB" sz="1800" b="0" i="0" u="none" strike="noStrike" noProof="0" dirty="0">
                          <a:latin typeface="Calibri"/>
                        </a:rPr>
                        <a:t>Below 5 NTU</a:t>
                      </a:r>
                      <a:endParaRPr lang="en-US" dirty="0"/>
                    </a:p>
                  </a:txBody>
                  <a:tcPr/>
                </a:tc>
                <a:tc>
                  <a:txBody>
                    <a:bodyPr/>
                    <a:lstStyle/>
                    <a:p>
                      <a:pPr lvl="0">
                        <a:buNone/>
                      </a:pPr>
                      <a:r>
                        <a:rPr lang="en-GB" sz="1800" b="0" i="0" u="none" strike="noStrike" noProof="0" dirty="0">
                          <a:latin typeface="Calibri"/>
                        </a:rPr>
                        <a:t>Below 50 NTU</a:t>
                      </a:r>
                      <a:endParaRPr lang="en-US" dirty="0"/>
                    </a:p>
                  </a:txBody>
                  <a:tcPr/>
                </a:tc>
                <a:tc>
                  <a:txBody>
                    <a:bodyPr/>
                    <a:lstStyle/>
                    <a:p>
                      <a:r>
                        <a:rPr lang="en-GB" dirty="0"/>
                        <a:t>Below 50 NTU</a:t>
                      </a:r>
                    </a:p>
                  </a:txBody>
                  <a:tcPr/>
                </a:tc>
                <a:extLst>
                  <a:ext uri="{0D108BD9-81ED-4DB2-BD59-A6C34878D82A}">
                    <a16:rowId xmlns:a16="http://schemas.microsoft.com/office/drawing/2014/main" val="2813661766"/>
                  </a:ext>
                </a:extLst>
              </a:tr>
            </a:tbl>
          </a:graphicData>
        </a:graphic>
      </p:graphicFrame>
    </p:spTree>
    <p:extLst>
      <p:ext uri="{BB962C8B-B14F-4D97-AF65-F5344CB8AC3E}">
        <p14:creationId xmlns:p14="http://schemas.microsoft.com/office/powerpoint/2010/main" val="4058094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A9801-30D1-7A09-F2C3-0A4B8AA9AEC1}"/>
              </a:ext>
            </a:extLst>
          </p:cNvPr>
          <p:cNvSpPr>
            <a:spLocks noGrp="1"/>
          </p:cNvSpPr>
          <p:nvPr>
            <p:ph type="title"/>
          </p:nvPr>
        </p:nvSpPr>
        <p:spPr/>
        <p:txBody>
          <a:bodyPr/>
          <a:lstStyle/>
          <a:p>
            <a:r>
              <a:rPr lang="en-GB" b="1">
                <a:cs typeface="Calibri Light"/>
              </a:rPr>
              <a:t>Result</a:t>
            </a:r>
            <a:endParaRPr lang="en-GB" b="1"/>
          </a:p>
        </p:txBody>
      </p:sp>
      <p:pic>
        <p:nvPicPr>
          <p:cNvPr id="7" name="Picture 7" descr="A screenshot of a computer&#10;&#10;Description automatically generated">
            <a:extLst>
              <a:ext uri="{FF2B5EF4-FFF2-40B4-BE49-F238E27FC236}">
                <a16:creationId xmlns:a16="http://schemas.microsoft.com/office/drawing/2014/main" id="{2BCB85FA-1115-4F3C-DD98-621334DD31E3}"/>
              </a:ext>
            </a:extLst>
          </p:cNvPr>
          <p:cNvPicPr>
            <a:picLocks noGrp="1" noChangeAspect="1"/>
          </p:cNvPicPr>
          <p:nvPr>
            <p:ph idx="1"/>
          </p:nvPr>
        </p:nvPicPr>
        <p:blipFill rotWithShape="1">
          <a:blip r:embed="rId2"/>
          <a:srcRect r="2226" b="10452"/>
          <a:stretch/>
        </p:blipFill>
        <p:spPr>
          <a:xfrm>
            <a:off x="1023692" y="1358593"/>
            <a:ext cx="9923280" cy="5125572"/>
          </a:xfrm>
        </p:spPr>
      </p:pic>
      <p:sp>
        <p:nvSpPr>
          <p:cNvPr id="8" name="Slide Number Placeholder 7">
            <a:extLst>
              <a:ext uri="{FF2B5EF4-FFF2-40B4-BE49-F238E27FC236}">
                <a16:creationId xmlns:a16="http://schemas.microsoft.com/office/drawing/2014/main" id="{4FE72E8E-9568-5F73-67BF-29804BC65180}"/>
              </a:ext>
            </a:extLst>
          </p:cNvPr>
          <p:cNvSpPr>
            <a:spLocks noGrp="1"/>
          </p:cNvSpPr>
          <p:nvPr>
            <p:ph type="sldNum" sz="quarter" idx="12"/>
          </p:nvPr>
        </p:nvSpPr>
        <p:spPr/>
        <p:txBody>
          <a:bodyPr/>
          <a:lstStyle/>
          <a:p>
            <a:fld id="{330EA680-D336-4FF7-8B7A-9848BB0A1C32}" type="slidenum">
              <a:rPr lang="en-GB" smtClean="0"/>
              <a:t>17</a:t>
            </a:fld>
            <a:endParaRPr lang="en-GB"/>
          </a:p>
        </p:txBody>
      </p:sp>
    </p:spTree>
    <p:extLst>
      <p:ext uri="{BB962C8B-B14F-4D97-AF65-F5344CB8AC3E}">
        <p14:creationId xmlns:p14="http://schemas.microsoft.com/office/powerpoint/2010/main" val="19543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4CA08-53CB-5224-4840-C4D986A47D7D}"/>
              </a:ext>
            </a:extLst>
          </p:cNvPr>
          <p:cNvSpPr>
            <a:spLocks noGrp="1"/>
          </p:cNvSpPr>
          <p:nvPr>
            <p:ph type="title"/>
          </p:nvPr>
        </p:nvSpPr>
        <p:spPr/>
        <p:txBody>
          <a:bodyPr/>
          <a:lstStyle/>
          <a:p>
            <a:r>
              <a:rPr lang="en-GB" b="1">
                <a:cs typeface="Calibri Light"/>
              </a:rPr>
              <a:t>Result:</a:t>
            </a:r>
          </a:p>
        </p:txBody>
      </p:sp>
      <p:pic>
        <p:nvPicPr>
          <p:cNvPr id="6" name="Picture 6" descr="Graphical user interface&#10;&#10;Description automatically generated">
            <a:extLst>
              <a:ext uri="{FF2B5EF4-FFF2-40B4-BE49-F238E27FC236}">
                <a16:creationId xmlns:a16="http://schemas.microsoft.com/office/drawing/2014/main" id="{5AECD761-5E92-C9B7-3E04-EC45578294EC}"/>
              </a:ext>
            </a:extLst>
          </p:cNvPr>
          <p:cNvPicPr>
            <a:picLocks noGrp="1" noChangeAspect="1"/>
          </p:cNvPicPr>
          <p:nvPr>
            <p:ph idx="1"/>
          </p:nvPr>
        </p:nvPicPr>
        <p:blipFill rotWithShape="1">
          <a:blip r:embed="rId2"/>
          <a:srcRect l="8929" t="26802" r="8482" b="18243"/>
          <a:stretch/>
        </p:blipFill>
        <p:spPr>
          <a:xfrm>
            <a:off x="1117095" y="2056684"/>
            <a:ext cx="3211948" cy="1429945"/>
          </a:xfrm>
        </p:spPr>
      </p:pic>
      <p:sp>
        <p:nvSpPr>
          <p:cNvPr id="5" name="Slide Number Placeholder 4">
            <a:extLst>
              <a:ext uri="{FF2B5EF4-FFF2-40B4-BE49-F238E27FC236}">
                <a16:creationId xmlns:a16="http://schemas.microsoft.com/office/drawing/2014/main" id="{56EBBBC1-CC55-A178-6CFF-E5A348994721}"/>
              </a:ext>
            </a:extLst>
          </p:cNvPr>
          <p:cNvSpPr>
            <a:spLocks noGrp="1"/>
          </p:cNvSpPr>
          <p:nvPr>
            <p:ph type="sldNum" sz="quarter" idx="12"/>
          </p:nvPr>
        </p:nvSpPr>
        <p:spPr/>
        <p:txBody>
          <a:bodyPr/>
          <a:lstStyle/>
          <a:p>
            <a:fld id="{330EA680-D336-4FF7-8B7A-9848BB0A1C32}" type="slidenum">
              <a:rPr lang="en-GB" smtClean="0"/>
              <a:t>18</a:t>
            </a:fld>
            <a:endParaRPr lang="en-GB"/>
          </a:p>
        </p:txBody>
      </p:sp>
      <p:pic>
        <p:nvPicPr>
          <p:cNvPr id="9" name="Picture 9" descr="A picture containing text, monitor, clock&#10;&#10;Description automatically generated">
            <a:extLst>
              <a:ext uri="{FF2B5EF4-FFF2-40B4-BE49-F238E27FC236}">
                <a16:creationId xmlns:a16="http://schemas.microsoft.com/office/drawing/2014/main" id="{1C3B6E70-F5DB-8C2B-089D-8E8C5E40AD76}"/>
              </a:ext>
            </a:extLst>
          </p:cNvPr>
          <p:cNvPicPr>
            <a:picLocks noChangeAspect="1"/>
          </p:cNvPicPr>
          <p:nvPr/>
        </p:nvPicPr>
        <p:blipFill rotWithShape="1">
          <a:blip r:embed="rId3"/>
          <a:srcRect t="27778" r="2703" b="24691"/>
          <a:stretch/>
        </p:blipFill>
        <p:spPr>
          <a:xfrm>
            <a:off x="8877205" y="2246930"/>
            <a:ext cx="2657102" cy="1077622"/>
          </a:xfrm>
          <a:prstGeom prst="rect">
            <a:avLst/>
          </a:prstGeom>
        </p:spPr>
      </p:pic>
      <p:pic>
        <p:nvPicPr>
          <p:cNvPr id="3" name="Picture 3">
            <a:extLst>
              <a:ext uri="{FF2B5EF4-FFF2-40B4-BE49-F238E27FC236}">
                <a16:creationId xmlns:a16="http://schemas.microsoft.com/office/drawing/2014/main" id="{307F7186-64B3-E019-58AC-0508463AB18D}"/>
              </a:ext>
            </a:extLst>
          </p:cNvPr>
          <p:cNvPicPr>
            <a:picLocks noChangeAspect="1"/>
          </p:cNvPicPr>
          <p:nvPr/>
        </p:nvPicPr>
        <p:blipFill>
          <a:blip r:embed="rId4"/>
          <a:stretch>
            <a:fillRect/>
          </a:stretch>
        </p:blipFill>
        <p:spPr>
          <a:xfrm>
            <a:off x="4506687" y="4393269"/>
            <a:ext cx="4472818" cy="1249193"/>
          </a:xfrm>
          <a:prstGeom prst="rect">
            <a:avLst/>
          </a:prstGeom>
        </p:spPr>
      </p:pic>
      <p:pic>
        <p:nvPicPr>
          <p:cNvPr id="8" name="Picture 10" descr="A picture containing text, wall, indoor, monitor&#10;&#10;Description automatically generated">
            <a:extLst>
              <a:ext uri="{FF2B5EF4-FFF2-40B4-BE49-F238E27FC236}">
                <a16:creationId xmlns:a16="http://schemas.microsoft.com/office/drawing/2014/main" id="{D37E14A8-A4E0-21E0-97EE-F15F7962C17B}"/>
              </a:ext>
            </a:extLst>
          </p:cNvPr>
          <p:cNvPicPr>
            <a:picLocks noChangeAspect="1"/>
          </p:cNvPicPr>
          <p:nvPr/>
        </p:nvPicPr>
        <p:blipFill rotWithShape="1">
          <a:blip r:embed="rId5"/>
          <a:srcRect l="21586" t="19405" r="5727" b="24017"/>
          <a:stretch/>
        </p:blipFill>
        <p:spPr>
          <a:xfrm>
            <a:off x="5365449" y="2220476"/>
            <a:ext cx="2889006" cy="1257573"/>
          </a:xfrm>
          <a:prstGeom prst="rect">
            <a:avLst/>
          </a:prstGeom>
        </p:spPr>
      </p:pic>
    </p:spTree>
    <p:extLst>
      <p:ext uri="{BB962C8B-B14F-4D97-AF65-F5344CB8AC3E}">
        <p14:creationId xmlns:p14="http://schemas.microsoft.com/office/powerpoint/2010/main" val="265360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6FB7-588B-AF33-98C5-F814327D2D9B}"/>
              </a:ext>
            </a:extLst>
          </p:cNvPr>
          <p:cNvSpPr>
            <a:spLocks noGrp="1"/>
          </p:cNvSpPr>
          <p:nvPr>
            <p:ph type="title"/>
          </p:nvPr>
        </p:nvSpPr>
        <p:spPr/>
        <p:txBody>
          <a:bodyPr/>
          <a:lstStyle/>
          <a:p>
            <a:r>
              <a:rPr lang="en-GB" b="1">
                <a:latin typeface="Times New Roman"/>
                <a:cs typeface="Calibri Light"/>
              </a:rPr>
              <a:t>Conclusion</a:t>
            </a:r>
            <a:endParaRPr lang="en-GB" b="1">
              <a:latin typeface="Times New Roman"/>
            </a:endParaRPr>
          </a:p>
        </p:txBody>
      </p:sp>
      <p:sp>
        <p:nvSpPr>
          <p:cNvPr id="3" name="Content Placeholder 2">
            <a:extLst>
              <a:ext uri="{FF2B5EF4-FFF2-40B4-BE49-F238E27FC236}">
                <a16:creationId xmlns:a16="http://schemas.microsoft.com/office/drawing/2014/main" id="{B01CB1F1-7B35-AD34-18EC-A4624027DABF}"/>
              </a:ext>
            </a:extLst>
          </p:cNvPr>
          <p:cNvSpPr>
            <a:spLocks noGrp="1"/>
          </p:cNvSpPr>
          <p:nvPr>
            <p:ph idx="1"/>
          </p:nvPr>
        </p:nvSpPr>
        <p:spPr/>
        <p:txBody>
          <a:bodyPr vert="horz" lIns="91440" tIns="45720" rIns="91440" bIns="45720" rtlCol="0" anchor="t">
            <a:normAutofit/>
          </a:bodyPr>
          <a:lstStyle/>
          <a:p>
            <a:pPr marL="0" indent="0" algn="just">
              <a:buNone/>
            </a:pPr>
            <a:r>
              <a:rPr lang="en-GB" sz="2000">
                <a:latin typeface="Times New Roman"/>
                <a:ea typeface="+mn-lt"/>
                <a:cs typeface="+mn-lt"/>
              </a:rPr>
              <a:t>The project successfully developed a system for quality monitoring of recycled wastewater using TDS, turbidity, and pH sensors with data displayed on an LCD screen. The objectives of the project were achieved, including the design and construction of a reliable monitoring system, development of a user-friendly interface, implementation of calibration techniques, validation of sensor performance, and assessment of feasibility for continuous monitoring in various applications.</a:t>
            </a:r>
            <a:endParaRPr lang="en-US">
              <a:cs typeface="Calibri" panose="020F0502020204030204"/>
            </a:endParaRPr>
          </a:p>
        </p:txBody>
      </p:sp>
      <p:sp>
        <p:nvSpPr>
          <p:cNvPr id="4" name="Slide Number Placeholder 3">
            <a:extLst>
              <a:ext uri="{FF2B5EF4-FFF2-40B4-BE49-F238E27FC236}">
                <a16:creationId xmlns:a16="http://schemas.microsoft.com/office/drawing/2014/main" id="{D36E9D7D-B81F-F345-7B27-65CB3889D349}"/>
              </a:ext>
            </a:extLst>
          </p:cNvPr>
          <p:cNvSpPr>
            <a:spLocks noGrp="1"/>
          </p:cNvSpPr>
          <p:nvPr>
            <p:ph type="sldNum" sz="quarter" idx="12"/>
          </p:nvPr>
        </p:nvSpPr>
        <p:spPr/>
        <p:txBody>
          <a:bodyPr/>
          <a:lstStyle/>
          <a:p>
            <a:fld id="{330EA680-D336-4FF7-8B7A-9848BB0A1C32}" type="slidenum">
              <a:rPr lang="en-GB" smtClean="0"/>
              <a:t>19</a:t>
            </a:fld>
            <a:endParaRPr lang="en-GB"/>
          </a:p>
        </p:txBody>
      </p:sp>
    </p:spTree>
    <p:extLst>
      <p:ext uri="{BB962C8B-B14F-4D97-AF65-F5344CB8AC3E}">
        <p14:creationId xmlns:p14="http://schemas.microsoft.com/office/powerpoint/2010/main" val="1199894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C0DA8-E0D2-AB73-8790-3B40FBAC3387}"/>
              </a:ext>
            </a:extLst>
          </p:cNvPr>
          <p:cNvSpPr>
            <a:spLocks noGrp="1"/>
          </p:cNvSpPr>
          <p:nvPr>
            <p:ph type="title"/>
          </p:nvPr>
        </p:nvSpPr>
        <p:spPr/>
        <p:txBody>
          <a:bodyPr/>
          <a:lstStyle/>
          <a:p>
            <a:r>
              <a:rPr lang="en-GB" b="1">
                <a:latin typeface="Times New Roman"/>
                <a:cs typeface="Calibri Light"/>
              </a:rPr>
              <a:t>Reference</a:t>
            </a:r>
            <a:endParaRPr lang="en-GB" b="1">
              <a:latin typeface="Times New Roman"/>
            </a:endParaRPr>
          </a:p>
        </p:txBody>
      </p:sp>
      <p:sp>
        <p:nvSpPr>
          <p:cNvPr id="3" name="Content Placeholder 2">
            <a:extLst>
              <a:ext uri="{FF2B5EF4-FFF2-40B4-BE49-F238E27FC236}">
                <a16:creationId xmlns:a16="http://schemas.microsoft.com/office/drawing/2014/main" id="{6DC57B98-6753-6056-1E0F-C83F9CD0DA2B}"/>
              </a:ext>
            </a:extLst>
          </p:cNvPr>
          <p:cNvSpPr>
            <a:spLocks noGrp="1"/>
          </p:cNvSpPr>
          <p:nvPr>
            <p:ph idx="1"/>
          </p:nvPr>
        </p:nvSpPr>
        <p:spPr/>
        <p:txBody>
          <a:bodyPr vert="horz" lIns="91440" tIns="45720" rIns="91440" bIns="45720" rtlCol="0" anchor="t">
            <a:normAutofit/>
          </a:bodyPr>
          <a:lstStyle/>
          <a:p>
            <a:pPr marL="0" indent="0">
              <a:buNone/>
            </a:pPr>
            <a:r>
              <a:rPr lang="en-GB" sz="1700">
                <a:latin typeface="Times New Roman"/>
                <a:cs typeface="Times New Roman"/>
              </a:rPr>
              <a:t>[1] Kumar, Manish, Tinku Singh, Manish Kumar Maurya, Anubhav </a:t>
            </a:r>
            <a:r>
              <a:rPr lang="en-GB" sz="1700" err="1">
                <a:latin typeface="Times New Roman"/>
                <a:cs typeface="Times New Roman"/>
              </a:rPr>
              <a:t>Shivhare</a:t>
            </a:r>
            <a:r>
              <a:rPr lang="en-GB" sz="1700">
                <a:latin typeface="Times New Roman"/>
                <a:cs typeface="Times New Roman"/>
              </a:rPr>
              <a:t>, Ashwin Raut, and Pramod Kumar Singh. "Quality Assessment and Monitoring of River Water Using IoT Infrastructure." </a:t>
            </a:r>
            <a:r>
              <a:rPr lang="en-GB" sz="1700" i="1">
                <a:latin typeface="Times New Roman"/>
                <a:cs typeface="Times New Roman"/>
              </a:rPr>
              <a:t>IEEE Internet of Things Journal</a:t>
            </a:r>
            <a:r>
              <a:rPr lang="en-GB" sz="1700">
                <a:latin typeface="Times New Roman"/>
                <a:cs typeface="Times New Roman"/>
              </a:rPr>
              <a:t> (2023).</a:t>
            </a:r>
            <a:endParaRPr lang="en-US" sz="1700">
              <a:latin typeface="Times New Roman"/>
              <a:cs typeface="Times New Roman"/>
            </a:endParaRPr>
          </a:p>
          <a:p>
            <a:pPr marL="0" indent="0">
              <a:buNone/>
            </a:pPr>
            <a:r>
              <a:rPr lang="en-GB" sz="1700">
                <a:latin typeface="Times New Roman"/>
                <a:cs typeface="Times New Roman"/>
              </a:rPr>
              <a:t>[2] M. Kumar, T. Singh, M. K. Maurya, A. </a:t>
            </a:r>
            <a:r>
              <a:rPr lang="en-GB" sz="1700" err="1">
                <a:latin typeface="Times New Roman"/>
                <a:cs typeface="Times New Roman"/>
              </a:rPr>
              <a:t>Shivhare</a:t>
            </a:r>
            <a:r>
              <a:rPr lang="en-GB" sz="1700">
                <a:latin typeface="Times New Roman"/>
                <a:cs typeface="Times New Roman"/>
              </a:rPr>
              <a:t>, A. Raut and P. K. Singh, "Quality Assessment and Monitoring of River Water Using IoT Infrastructure," in IEEE Internet of Things Journal, </a:t>
            </a:r>
            <a:r>
              <a:rPr lang="en-GB" sz="1700" err="1">
                <a:latin typeface="Times New Roman"/>
                <a:cs typeface="Times New Roman"/>
              </a:rPr>
              <a:t>doi</a:t>
            </a:r>
            <a:r>
              <a:rPr lang="en-GB" sz="1700">
                <a:latin typeface="Times New Roman"/>
                <a:cs typeface="Times New Roman"/>
              </a:rPr>
              <a:t>: 10.1109/JIOT.2023.3238123.</a:t>
            </a:r>
            <a:endParaRPr lang="en-US" sz="1700">
              <a:latin typeface="Times New Roman"/>
              <a:cs typeface="Times New Roman"/>
            </a:endParaRPr>
          </a:p>
          <a:p>
            <a:pPr marL="0" indent="0">
              <a:buNone/>
            </a:pPr>
            <a:r>
              <a:rPr lang="en-GB" sz="1700">
                <a:latin typeface="Times New Roman"/>
                <a:cs typeface="Times New Roman"/>
              </a:rPr>
              <a:t>[3] B. </a:t>
            </a:r>
            <a:r>
              <a:rPr lang="en-GB" sz="1700" err="1">
                <a:latin typeface="Times New Roman"/>
                <a:cs typeface="Times New Roman"/>
              </a:rPr>
              <a:t>Suwandi</a:t>
            </a:r>
            <a:r>
              <a:rPr lang="en-GB" sz="1700">
                <a:latin typeface="Times New Roman"/>
                <a:cs typeface="Times New Roman"/>
              </a:rPr>
              <a:t> et al., "Development of a Low-Cost TDS Sensor Using an Electric Plug with The Curve Fitting Method Approaches," 2022 International Conference on Radar, Antenna, Microwave, Electronics, and Telecommunications (ICRAMET), Bandung, Indonesia, 2022, pp. 83-87, </a:t>
            </a:r>
            <a:r>
              <a:rPr lang="en-GB" sz="1700" err="1">
                <a:latin typeface="Times New Roman"/>
                <a:cs typeface="Times New Roman"/>
              </a:rPr>
              <a:t>doi</a:t>
            </a:r>
            <a:r>
              <a:rPr lang="en-GB" sz="1700">
                <a:latin typeface="Times New Roman"/>
                <a:cs typeface="Times New Roman"/>
              </a:rPr>
              <a:t>: 10.1109/ICRAMET56917.2022.9991206.</a:t>
            </a:r>
            <a:endParaRPr lang="en-US" sz="1700">
              <a:latin typeface="Times New Roman"/>
              <a:cs typeface="Times New Roman"/>
            </a:endParaRPr>
          </a:p>
          <a:p>
            <a:pPr marL="0" indent="0">
              <a:buNone/>
            </a:pPr>
            <a:r>
              <a:rPr lang="en-GB" sz="1700">
                <a:latin typeface="Times New Roman"/>
                <a:cs typeface="Times New Roman"/>
              </a:rPr>
              <a:t>[4] Q. Song, F. Luan, Z. Shi, T. Li and M. Wang, "Design of Turbidity Remote Monitoring System Based on FX-11A Optical Fiber Sensor," 2020 Prognostics and Health Management Conference (PHM-Besançon), Besancon, France, 2020, pp. 291-294, </a:t>
            </a:r>
            <a:r>
              <a:rPr lang="en-GB" sz="1700" err="1">
                <a:latin typeface="Times New Roman"/>
                <a:cs typeface="Times New Roman"/>
              </a:rPr>
              <a:t>doi</a:t>
            </a:r>
            <a:r>
              <a:rPr lang="en-GB" sz="1700">
                <a:latin typeface="Times New Roman"/>
                <a:cs typeface="Times New Roman"/>
              </a:rPr>
              <a:t>: 10.1109/PHM-Besancon49106.2020.00056.</a:t>
            </a:r>
            <a:endParaRPr lang="en-US" sz="1700">
              <a:latin typeface="Times New Roman"/>
              <a:cs typeface="Times New Roman"/>
            </a:endParaRPr>
          </a:p>
          <a:p>
            <a:pPr marL="0" indent="0">
              <a:buNone/>
            </a:pPr>
            <a:r>
              <a:rPr lang="en-GB" sz="1700">
                <a:latin typeface="Times New Roman"/>
                <a:cs typeface="Times New Roman"/>
              </a:rPr>
              <a:t>[5] J. Yin, W. Chen, W. Gao, X. Zhang, B. Tang and Q. </a:t>
            </a:r>
            <a:r>
              <a:rPr lang="en-GB" sz="1700" err="1">
                <a:latin typeface="Times New Roman"/>
                <a:cs typeface="Times New Roman"/>
              </a:rPr>
              <a:t>Jin</a:t>
            </a:r>
            <a:r>
              <a:rPr lang="en-GB" sz="1700">
                <a:latin typeface="Times New Roman"/>
                <a:cs typeface="Times New Roman"/>
              </a:rPr>
              <a:t>, "Batch Fabrication of Microminiaturized pH Sensor Integrated With </a:t>
            </a:r>
            <a:r>
              <a:rPr lang="en-GB" sz="1700" err="1">
                <a:latin typeface="Times New Roman"/>
                <a:cs typeface="Times New Roman"/>
              </a:rPr>
              <a:t>IrOx</a:t>
            </a:r>
            <a:r>
              <a:rPr lang="en-GB" sz="1700">
                <a:latin typeface="Times New Roman"/>
                <a:cs typeface="Times New Roman"/>
              </a:rPr>
              <a:t> Film and Solid State Ag/AgCl Electrode for Tap Water Quality Online Detection," in IEEE Sensors Journal, vol. 23, no. 4, pp. 3475-3484, 15 Feb.15, 2023, </a:t>
            </a:r>
            <a:r>
              <a:rPr lang="en-GB" sz="1700" err="1">
                <a:latin typeface="Times New Roman"/>
                <a:cs typeface="Times New Roman"/>
              </a:rPr>
              <a:t>doi</a:t>
            </a:r>
            <a:r>
              <a:rPr lang="en-GB" sz="1700">
                <a:latin typeface="Times New Roman"/>
                <a:cs typeface="Times New Roman"/>
              </a:rPr>
              <a:t>: 10.1109/JSEN.2023.3234140.</a:t>
            </a:r>
          </a:p>
          <a:p>
            <a:endParaRPr lang="en-GB">
              <a:cs typeface="Calibri"/>
            </a:endParaRPr>
          </a:p>
        </p:txBody>
      </p:sp>
      <p:sp>
        <p:nvSpPr>
          <p:cNvPr id="4" name="Slide Number Placeholder 3">
            <a:extLst>
              <a:ext uri="{FF2B5EF4-FFF2-40B4-BE49-F238E27FC236}">
                <a16:creationId xmlns:a16="http://schemas.microsoft.com/office/drawing/2014/main" id="{C07ED03E-6881-95F9-EE6C-141865586982}"/>
              </a:ext>
            </a:extLst>
          </p:cNvPr>
          <p:cNvSpPr>
            <a:spLocks noGrp="1"/>
          </p:cNvSpPr>
          <p:nvPr>
            <p:ph type="sldNum" sz="quarter" idx="12"/>
          </p:nvPr>
        </p:nvSpPr>
        <p:spPr/>
        <p:txBody>
          <a:bodyPr/>
          <a:lstStyle/>
          <a:p>
            <a:fld id="{330EA680-D336-4FF7-8B7A-9848BB0A1C32}" type="slidenum">
              <a:rPr lang="en-GB" smtClean="0"/>
              <a:t>20</a:t>
            </a:fld>
            <a:endParaRPr lang="en-GB"/>
          </a:p>
        </p:txBody>
      </p:sp>
    </p:spTree>
    <p:extLst>
      <p:ext uri="{BB962C8B-B14F-4D97-AF65-F5344CB8AC3E}">
        <p14:creationId xmlns:p14="http://schemas.microsoft.com/office/powerpoint/2010/main" val="2319649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D00E7-36BD-4AA1-D15C-82A1779112A8}"/>
              </a:ext>
            </a:extLst>
          </p:cNvPr>
          <p:cNvSpPr>
            <a:spLocks noGrp="1"/>
          </p:cNvSpPr>
          <p:nvPr>
            <p:ph type="title"/>
          </p:nvPr>
        </p:nvSpPr>
        <p:spPr/>
        <p:txBody>
          <a:bodyPr/>
          <a:lstStyle/>
          <a:p>
            <a:r>
              <a:rPr lang="en-GB" b="1">
                <a:latin typeface="Times New Roman"/>
                <a:cs typeface="Times New Roman"/>
              </a:rPr>
              <a:t>Reference</a:t>
            </a:r>
            <a:endParaRPr lang="en-US"/>
          </a:p>
        </p:txBody>
      </p:sp>
      <p:sp>
        <p:nvSpPr>
          <p:cNvPr id="3" name="Content Placeholder 2">
            <a:extLst>
              <a:ext uri="{FF2B5EF4-FFF2-40B4-BE49-F238E27FC236}">
                <a16:creationId xmlns:a16="http://schemas.microsoft.com/office/drawing/2014/main" id="{79964DB2-912A-167B-0B98-77355C1ABAE3}"/>
              </a:ext>
            </a:extLst>
          </p:cNvPr>
          <p:cNvSpPr>
            <a:spLocks noGrp="1"/>
          </p:cNvSpPr>
          <p:nvPr>
            <p:ph idx="1"/>
          </p:nvPr>
        </p:nvSpPr>
        <p:spPr/>
        <p:txBody>
          <a:bodyPr vert="horz" lIns="91440" tIns="45720" rIns="91440" bIns="45720" rtlCol="0" anchor="t">
            <a:normAutofit/>
          </a:bodyPr>
          <a:lstStyle/>
          <a:p>
            <a:pPr marL="0" indent="0">
              <a:buNone/>
            </a:pPr>
            <a:r>
              <a:rPr lang="en-GB" sz="1800">
                <a:latin typeface="Times New Roman"/>
                <a:cs typeface="Times New Roman"/>
              </a:rPr>
              <a:t>[6]D. Parida, A. Behera, J. K. Naik, S. Pattanaik and R. S. Nanda, "Real-time Environment Monitoring System using ESP8266 and </a:t>
            </a:r>
            <a:r>
              <a:rPr lang="en-GB" sz="1800" err="1">
                <a:latin typeface="Times New Roman"/>
                <a:cs typeface="Times New Roman"/>
              </a:rPr>
              <a:t>ThingSpeak</a:t>
            </a:r>
            <a:r>
              <a:rPr lang="en-GB" sz="1800">
                <a:latin typeface="Times New Roman"/>
                <a:cs typeface="Times New Roman"/>
              </a:rPr>
              <a:t> on Internet of Things Platform," 2019 International Conference on Intelligent Computing and Control Systems (ICCS), Madurai, India, 2019, pp. 225-229, </a:t>
            </a:r>
            <a:r>
              <a:rPr lang="en-GB" sz="1800" err="1">
                <a:latin typeface="Times New Roman"/>
                <a:cs typeface="Times New Roman"/>
              </a:rPr>
              <a:t>doi</a:t>
            </a:r>
            <a:r>
              <a:rPr lang="en-GB" sz="1800">
                <a:latin typeface="Times New Roman"/>
                <a:cs typeface="Times New Roman"/>
              </a:rPr>
              <a:t>: 10.1109/ICCS45141.2019.9065451.</a:t>
            </a:r>
          </a:p>
          <a:p>
            <a:pPr marL="0" indent="0">
              <a:buNone/>
            </a:pPr>
            <a:r>
              <a:rPr lang="en-GB" sz="1800">
                <a:latin typeface="Times New Roman"/>
                <a:cs typeface="Times New Roman"/>
              </a:rPr>
              <a:t>[7]</a:t>
            </a:r>
            <a:r>
              <a:rPr lang="en-GB" sz="1800" err="1">
                <a:latin typeface="Times New Roman"/>
                <a:cs typeface="Times New Roman"/>
              </a:rPr>
              <a:t>Kalirajan</a:t>
            </a:r>
            <a:r>
              <a:rPr lang="en-GB" sz="1800">
                <a:latin typeface="Times New Roman"/>
                <a:cs typeface="Times New Roman"/>
              </a:rPr>
              <a:t>, K., Nambiar, M.V., Vinodhini, K. and Ramya, E., 2021, May. IOT based industrial waste water monitoring and recycling. In Journal of Physics: Conference Series (Vol. 1916, No. 1, p. 012119). IOP Publishing.</a:t>
            </a:r>
          </a:p>
          <a:p>
            <a:pPr marL="0" indent="0">
              <a:buNone/>
            </a:pPr>
            <a:r>
              <a:rPr lang="en-GB" sz="1800">
                <a:latin typeface="Times New Roman"/>
                <a:cs typeface="Times New Roman"/>
              </a:rPr>
              <a:t>[8]</a:t>
            </a:r>
            <a:r>
              <a:rPr lang="en-GB" sz="1800">
                <a:ea typeface="+mn-lt"/>
                <a:cs typeface="+mn-lt"/>
              </a:rPr>
              <a:t>W. -J. Li, C. Yen, Y. -S. Lin, S. -C. Tung and S. Huang, "</a:t>
            </a:r>
            <a:r>
              <a:rPr lang="en-GB" sz="1800" err="1">
                <a:ea typeface="+mn-lt"/>
                <a:cs typeface="+mn-lt"/>
              </a:rPr>
              <a:t>JustIoT</a:t>
            </a:r>
            <a:r>
              <a:rPr lang="en-GB" sz="1800">
                <a:ea typeface="+mn-lt"/>
                <a:cs typeface="+mn-lt"/>
              </a:rPr>
              <a:t> Internet of Things based on the Firebase real-time database," 2018 IEEE International Conference on Smart Manufacturing, Industrial &amp; Logistics Engineering (SMILE), Hsinchu, Taiwan, 2018, pp. 43-47, </a:t>
            </a:r>
            <a:r>
              <a:rPr lang="en-GB" sz="1800" err="1">
                <a:ea typeface="+mn-lt"/>
                <a:cs typeface="+mn-lt"/>
              </a:rPr>
              <a:t>doi</a:t>
            </a:r>
            <a:r>
              <a:rPr lang="en-GB" sz="1800">
                <a:ea typeface="+mn-lt"/>
                <a:cs typeface="+mn-lt"/>
              </a:rPr>
              <a:t>: 10.1109/SMILE.2018.8353979.</a:t>
            </a:r>
            <a:endParaRPr lang="en-GB" sz="1800">
              <a:latin typeface="Times New Roman"/>
              <a:cs typeface="Times New Roman"/>
            </a:endParaRPr>
          </a:p>
          <a:p>
            <a:endParaRPr lang="en-GB">
              <a:cs typeface="Calibri"/>
            </a:endParaRPr>
          </a:p>
        </p:txBody>
      </p:sp>
      <p:sp>
        <p:nvSpPr>
          <p:cNvPr id="4" name="Slide Number Placeholder 3">
            <a:extLst>
              <a:ext uri="{FF2B5EF4-FFF2-40B4-BE49-F238E27FC236}">
                <a16:creationId xmlns:a16="http://schemas.microsoft.com/office/drawing/2014/main" id="{537D554B-BEF7-DE2D-128D-3ADA3B793983}"/>
              </a:ext>
            </a:extLst>
          </p:cNvPr>
          <p:cNvSpPr>
            <a:spLocks noGrp="1"/>
          </p:cNvSpPr>
          <p:nvPr>
            <p:ph type="sldNum" sz="quarter" idx="12"/>
          </p:nvPr>
        </p:nvSpPr>
        <p:spPr/>
        <p:txBody>
          <a:bodyPr/>
          <a:lstStyle/>
          <a:p>
            <a:fld id="{330EA680-D336-4FF7-8B7A-9848BB0A1C32}" type="slidenum">
              <a:rPr lang="en-GB" smtClean="0"/>
              <a:t>21</a:t>
            </a:fld>
            <a:endParaRPr lang="en-GB"/>
          </a:p>
        </p:txBody>
      </p:sp>
    </p:spTree>
    <p:extLst>
      <p:ext uri="{BB962C8B-B14F-4D97-AF65-F5344CB8AC3E}">
        <p14:creationId xmlns:p14="http://schemas.microsoft.com/office/powerpoint/2010/main" val="4001504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71B619-4580-68BE-DD5E-6DD61D78EA63}"/>
              </a:ext>
            </a:extLst>
          </p:cNvPr>
          <p:cNvSpPr>
            <a:spLocks noGrp="1"/>
          </p:cNvSpPr>
          <p:nvPr>
            <p:ph idx="1"/>
          </p:nvPr>
        </p:nvSpPr>
        <p:spPr>
          <a:xfrm>
            <a:off x="680962" y="1874006"/>
            <a:ext cx="10515600" cy="4351338"/>
          </a:xfrm>
        </p:spPr>
        <p:txBody>
          <a:bodyPr vert="horz" lIns="91440" tIns="45720" rIns="91440" bIns="45720" rtlCol="0" anchor="t">
            <a:normAutofit/>
          </a:bodyPr>
          <a:lstStyle/>
          <a:p>
            <a:pPr marL="0" indent="0" algn="ctr">
              <a:buNone/>
            </a:pPr>
            <a:endParaRPr lang="en-GB" sz="6000">
              <a:solidFill>
                <a:srgbClr val="4472C4"/>
              </a:solidFill>
              <a:latin typeface="Calibri"/>
            </a:endParaRPr>
          </a:p>
          <a:p>
            <a:pPr marL="0" indent="0" algn="ctr">
              <a:buNone/>
            </a:pPr>
            <a:r>
              <a:rPr lang="en-GB" sz="6000">
                <a:solidFill>
                  <a:srgbClr val="4472C4"/>
                </a:solidFill>
                <a:latin typeface="Calibri"/>
              </a:rPr>
              <a:t>THANK YOU </a:t>
            </a:r>
            <a:r>
              <a:rPr lang="en-GB" sz="6000">
                <a:solidFill>
                  <a:srgbClr val="4472C4"/>
                </a:solidFill>
                <a:latin typeface="Calibri"/>
                <a:ea typeface="Calibri"/>
                <a:cs typeface="Calibri"/>
              </a:rPr>
              <a:t>​</a:t>
            </a:r>
            <a:endParaRPr lang="en-GB">
              <a:cs typeface="Calibri" panose="020F0502020204030204"/>
            </a:endParaRPr>
          </a:p>
        </p:txBody>
      </p:sp>
      <p:sp>
        <p:nvSpPr>
          <p:cNvPr id="4" name="Slide Number Placeholder 3">
            <a:extLst>
              <a:ext uri="{FF2B5EF4-FFF2-40B4-BE49-F238E27FC236}">
                <a16:creationId xmlns:a16="http://schemas.microsoft.com/office/drawing/2014/main" id="{B03192B9-81AD-571C-730D-F087ACBB15A0}"/>
              </a:ext>
            </a:extLst>
          </p:cNvPr>
          <p:cNvSpPr>
            <a:spLocks noGrp="1"/>
          </p:cNvSpPr>
          <p:nvPr>
            <p:ph type="sldNum" sz="quarter" idx="12"/>
          </p:nvPr>
        </p:nvSpPr>
        <p:spPr/>
        <p:txBody>
          <a:bodyPr/>
          <a:lstStyle/>
          <a:p>
            <a:fld id="{330EA680-D336-4FF7-8B7A-9848BB0A1C32}" type="slidenum">
              <a:rPr lang="en-GB" smtClean="0"/>
              <a:t>22</a:t>
            </a:fld>
            <a:endParaRPr lang="en-GB"/>
          </a:p>
        </p:txBody>
      </p:sp>
      <p:sp>
        <p:nvSpPr>
          <p:cNvPr id="5" name="Footer Placeholder 4">
            <a:extLst>
              <a:ext uri="{FF2B5EF4-FFF2-40B4-BE49-F238E27FC236}">
                <a16:creationId xmlns:a16="http://schemas.microsoft.com/office/drawing/2014/main" id="{0B2E4287-3699-78FE-A07E-CAE37CE14661}"/>
              </a:ext>
            </a:extLst>
          </p:cNvPr>
          <p:cNvSpPr>
            <a:spLocks noGrp="1"/>
          </p:cNvSpPr>
          <p:nvPr>
            <p:ph type="ftr" sz="quarter" idx="11"/>
          </p:nvPr>
        </p:nvSpPr>
        <p:spPr/>
        <p:txBody>
          <a:bodyPr/>
          <a:lstStyle/>
          <a:p>
            <a:r>
              <a:rPr lang="en-GB"/>
              <a:t>03-06-2023</a:t>
            </a:r>
          </a:p>
        </p:txBody>
      </p:sp>
    </p:spTree>
    <p:extLst>
      <p:ext uri="{BB962C8B-B14F-4D97-AF65-F5344CB8AC3E}">
        <p14:creationId xmlns:p14="http://schemas.microsoft.com/office/powerpoint/2010/main" val="16037578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2026</Words>
  <Application>Microsoft Office PowerPoint</Application>
  <PresentationFormat>Widescreen</PresentationFormat>
  <Paragraphs>175</Paragraphs>
  <Slides>22</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22</vt:i4>
      </vt:variant>
    </vt:vector>
  </HeadingPairs>
  <TitlesOfParts>
    <vt:vector size="31" baseType="lpstr">
      <vt:lpstr>Arial</vt:lpstr>
      <vt:lpstr>Arial,Sans-Serif</vt:lpstr>
      <vt:lpstr>Calibri</vt:lpstr>
      <vt:lpstr>Calibri Light</vt:lpstr>
      <vt:lpstr>Times New Roman</vt:lpstr>
      <vt:lpstr>office theme</vt:lpstr>
      <vt:lpstr>Office Theme</vt:lpstr>
      <vt:lpstr>office theme</vt:lpstr>
      <vt:lpstr>office theme</vt:lpstr>
      <vt:lpstr>Product development for quality monitoring of recycled wastewater </vt:lpstr>
      <vt:lpstr>Introduction</vt:lpstr>
      <vt:lpstr>Motivation</vt:lpstr>
      <vt:lpstr>OBJECTIVE</vt:lpstr>
      <vt:lpstr>Sub-Objectives</vt:lpstr>
      <vt:lpstr>LITERATURE SURVEY</vt:lpstr>
      <vt:lpstr>LITERATURE SURVEY</vt:lpstr>
      <vt:lpstr>LITERATURE SURVEY</vt:lpstr>
      <vt:lpstr>LITERATURE SURVEY</vt:lpstr>
      <vt:lpstr>Block diagram</vt:lpstr>
      <vt:lpstr>Components</vt:lpstr>
      <vt:lpstr>TDS</vt:lpstr>
      <vt:lpstr>Turbidity</vt:lpstr>
      <vt:lpstr>Arduino UNO</vt:lpstr>
      <vt:lpstr>LCD</vt:lpstr>
      <vt:lpstr>Reference values </vt:lpstr>
      <vt:lpstr>Result</vt:lpstr>
      <vt:lpstr>Result:</vt:lpstr>
      <vt:lpstr>Conclusion</vt:lpstr>
      <vt:lpstr>Reference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Amrutha Mupparaju</cp:lastModifiedBy>
  <cp:revision>20</cp:revision>
  <dcterms:created xsi:type="dcterms:W3CDTF">2023-05-29T13:47:15Z</dcterms:created>
  <dcterms:modified xsi:type="dcterms:W3CDTF">2026-10-16T04:38:41Z</dcterms:modified>
</cp:coreProperties>
</file>